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a731054-f840-210d-6a62-386f777fa763}">
          <p14:sldIdLst>
            <p14:sldId id="256"/>
            <p14:sldId id="257"/>
          </p14:sldIdLst>
        </p14:section>
        <p14:section name="Design" id="{7ae195e6-dfe8-4c09-f48d-dbd3897ab971}">
          <p14:sldIdLst>
            <p14:sldId id="258"/>
            <p14:sldId id="259"/>
            <p14:sldId id="260"/>
            <p14:sldId id="261"/>
          </p14:sldIdLst>
        </p14:section>
        <p14:section name="Build" id="{8c09a7ea-147b-d002-0f42-e76405312b25}">
          <p14:sldIdLst>
            <p14:sldId id="262"/>
            <p14:sldId id="263"/>
            <p14:sldId id="264"/>
            <p14:sldId id="265"/>
          </p14:sldIdLst>
        </p14:section>
        <p14:section name="Wrap-up" id="{25870769-42b1-f34a-3755-1fed710c3509}">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AI Scooty Assistant is an internal FAQ chatbot built with Python, FastAPI and a small local model. The key idea is that plain code decides the answer, and the AI only polishes the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a small model cannot be trusted alone, and what the project sets out to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main features. The last one matters: even if Ollama is switched off, the bot still answers using the written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goes from the browser to the FastAPI server, then to the matcher, which is plain code. Only after the decision is made can Ollama optionally rephrase the fixed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design decision. A 0.6B model is easy to fool, so it is never allowed to decide anything. It only rewrites an already chosen answer, and the result is discarded if it adds new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knowledge lives in one file, tools/build_dataset.py. It generates data/knowledge.json and refuses to finish if any question has fewer than 50 phrasings.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plain and runs on one Windows laptop. The settings can be changed without touching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the folders map to responsibilities. The matcher and the LLM wrapper are separate files on purpose, so the decision logic never depends on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tests/test_matcher.py after changing the dataset. The health endpoint is a quick way to see if Ollama is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run of start.bat installs everything automatically. Remember to put the real support number in place of the placeholder.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limits. The database step is easy because the knowledge is hidden behind one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chemeClr val="accent4"/>
                </a:solidFill>
              </a:rPr>
              <a:t>AI Scooty Assistant</a:t>
            </a:r>
            <a:endParaRPr lang="en-US" sz="1000" dirty="0"/>
          </a:p>
        </p:txBody>
      </p:sp>
      <p:sp>
        <p:nvSpPr>
          <p:cNvPr id="3" name="Text 1"/>
          <p:cNvSpPr/>
          <p:nvPr>
            <p:ph idx="101" type="title" hasCustomPrompt="1"/>
          </p:nvPr>
        </p:nvSpPr>
        <p:spPr>
          <a:xfrm>
            <a:off x="457200" y="274320"/>
            <a:ext cx="822960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un circle"/>
          <p:cNvSpPr/>
          <p:nvPr/>
        </p:nvSpPr>
        <p:spPr>
          <a:xfrm>
            <a:off x="5943600" y="822960"/>
            <a:ext cx="2743200" cy="2743200"/>
          </a:xfrm>
          <a:prstGeom prst="ellipse">
            <a:avLst/>
          </a:prstGeom>
          <a:solidFill>
            <a:schemeClr val="accent1"/>
          </a:solidFill>
          <a:ln w="12700">
            <a:solidFill>
              <a:schemeClr val="accent1"/>
            </a:solidFill>
            <a:prstDash val="solid"/>
          </a:ln>
        </p:spPr>
      </p:sp>
      <p:pic>
        <p:nvPicPr>
          <p:cNvPr id="3" name="Bolt icon" descr="Lightning bolt">    </p:cNvPr>
          <p:cNvPicPr>
            <a:picLocks noChangeAspect="1"/>
          </p:cNvPicPr>
          <p:nvPr/>
        </p:nvPicPr>
        <p:blipFill>
          <a:blip r:embed="rId1"/>
          <a:stretch>
            <a:fillRect/>
          </a:stretch>
        </p:blipFill>
        <p:spPr>
          <a:xfrm>
            <a:off x="6858000" y="1737360"/>
            <a:ext cx="914400" cy="914400"/>
          </a:xfrm>
          <a:prstGeom prst="rect">
            <a:avLst/>
          </a:prstGeom>
        </p:spPr>
      </p:pic>
      <p:sp>
        <p:nvSpPr>
          <p:cNvPr id="4" name="Title"/>
          <p:cNvSpPr txBox="1"/>
          <p:nvPr/>
        </p:nvSpPr>
        <p:spPr>
          <a:xfrm>
            <a:off x="548640" y="1188720"/>
            <a:ext cx="5120640" cy="1371600"/>
          </a:xfrm>
          <a:prstGeom prst="rect">
            <a:avLst/>
          </a:prstGeom>
          <a:noFill/>
          <a:ln/>
        </p:spPr>
        <p:txBody>
          <a:bodyPr wrap="square" lIns="0" tIns="0" rIns="0" bIns="0" rtlCol="0" anchor="b"/>
          <a:lstStyle/>
          <a:p>
            <a:pPr indent="0" marL="0">
              <a:buNone/>
            </a:pPr>
            <a:r>
              <a:rPr lang="en-US" sz="4400" b="1" dirty="0">
                <a:solidFill>
                  <a:schemeClr val="bg1"/>
                </a:solidFill>
                <a:latin typeface="Cambria" pitchFamily="34" charset="0"/>
                <a:ea typeface="Cambria" pitchFamily="34" charset="-122"/>
                <a:cs typeface="Cambria" pitchFamily="34" charset="-120"/>
              </a:rPr>
              <a:t>AI Scooty Assistant</a:t>
            </a:r>
            <a:endParaRPr lang="en-US" sz="4400" dirty="0"/>
          </a:p>
        </p:txBody>
      </p:sp>
      <p:sp>
        <p:nvSpPr>
          <p:cNvPr id="5" name="Subtitle"/>
          <p:cNvSpPr txBox="1"/>
          <p:nvPr/>
        </p:nvSpPr>
        <p:spPr>
          <a:xfrm>
            <a:off x="548640" y="2697480"/>
            <a:ext cx="4937760" cy="822960"/>
          </a:xfrm>
          <a:prstGeom prst="rect">
            <a:avLst/>
          </a:prstGeom>
          <a:noFill/>
          <a:ln/>
        </p:spPr>
        <p:txBody>
          <a:bodyPr wrap="square" lIns="0" tIns="0" rIns="0" bIns="0" rtlCol="0" anchor="t"/>
          <a:lstStyle/>
          <a:p>
            <a:pPr indent="0" marL="0">
              <a:buNone/>
            </a:pPr>
            <a:r>
              <a:rPr lang="en-US" sz="1800" dirty="0">
                <a:solidFill>
                  <a:schemeClr val="bg2"/>
                </a:solidFill>
              </a:rPr>
              <a:t>An FAQ chatbot that answers from verified knowledge, not guesses</a:t>
            </a:r>
            <a:endParaRPr lang="en-US" sz="1800" dirty="0"/>
          </a:p>
        </p:txBody>
      </p:sp>
      <p:sp>
        <p:nvSpPr>
          <p:cNvPr id="6" name="Presenter"/>
          <p:cNvSpPr txBox="1"/>
          <p:nvPr/>
        </p:nvSpPr>
        <p:spPr>
          <a:xfrm>
            <a:off x="548640" y="4206240"/>
            <a:ext cx="7772400" cy="320040"/>
          </a:xfrm>
          <a:prstGeom prst="rect">
            <a:avLst/>
          </a:prstGeom>
          <a:noFill/>
          <a:ln/>
        </p:spPr>
        <p:txBody>
          <a:bodyPr wrap="square" lIns="0" tIns="0" rIns="0" bIns="0" rtlCol="0" anchor="t"/>
          <a:lstStyle/>
          <a:p>
            <a:pPr indent="0" marL="0">
              <a:buNone/>
            </a:pPr>
            <a:r>
              <a:rPr lang="en-US" sz="1400" dirty="0">
                <a:solidFill>
                  <a:schemeClr val="accent1"/>
                </a:solidFill>
              </a:rPr>
              <a:t>Md Rasel  |  AI Software Engineering  |  Project presentation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2"/>
                </a:solidFill>
              </a:rPr>
              <a:t>The problem and the goal</a:t>
            </a:r>
            <a:endParaRPr lang="en-US" sz="3400" dirty="0"/>
          </a:p>
        </p:txBody>
      </p:sp>
      <p:sp>
        <p:nvSpPr>
          <p:cNvPr id="3" name="Card 1"/>
          <p:cNvSpPr/>
          <p:nvPr/>
        </p:nvSpPr>
        <p:spPr>
          <a:xfrm>
            <a:off x="457200" y="1325880"/>
            <a:ext cx="2651760" cy="3200400"/>
          </a:xfrm>
          <a:prstGeom prst="roundRect">
            <a:avLst>
              <a:gd name="adj" fmla="val 2759"/>
            </a:avLst>
          </a:prstGeom>
          <a:solidFill>
            <a:schemeClr val="bg2"/>
          </a:solidFill>
          <a:ln w="12700">
            <a:solidFill>
              <a:schemeClr val="bg2"/>
            </a:solidFill>
            <a:prstDash val="solid"/>
          </a:ln>
        </p:spPr>
      </p:sp>
      <p:sp>
        <p:nvSpPr>
          <p:cNvPr id="4" name="The need circle"/>
          <p:cNvSpPr/>
          <p:nvPr/>
        </p:nvSpPr>
        <p:spPr>
          <a:xfrm>
            <a:off x="685800" y="1554480"/>
            <a:ext cx="640080" cy="640080"/>
          </a:xfrm>
          <a:prstGeom prst="ellipse">
            <a:avLst/>
          </a:prstGeom>
          <a:solidFill>
            <a:schemeClr val="accent4"/>
          </a:solidFill>
          <a:ln w="12700">
            <a:solidFill>
              <a:schemeClr val="accent4"/>
            </a:solidFill>
            <a:prstDash val="solid"/>
          </a:ln>
        </p:spPr>
      </p:sp>
      <p:pic>
        <p:nvPicPr>
          <p:cNvPr id="5" name="The need icon" descr="The need">    </p:cNvPr>
          <p:cNvPicPr>
            <a:picLocks noChangeAspect="1"/>
          </p:cNvPicPr>
          <p:nvPr/>
        </p:nvPicPr>
        <p:blipFill>
          <a:blip r:embed="rId1"/>
          <a:stretch>
            <a:fillRect/>
          </a:stretch>
        </p:blipFill>
        <p:spPr>
          <a:xfrm>
            <a:off x="845820" y="1714500"/>
            <a:ext cx="320040" cy="320040"/>
          </a:xfrm>
          <a:prstGeom prst="rect">
            <a:avLst/>
          </a:prstGeom>
        </p:spPr>
      </p:pic>
      <p:sp>
        <p:nvSpPr>
          <p:cNvPr id="6" name="Text 3"/>
          <p:cNvSpPr txBox="1"/>
          <p:nvPr/>
        </p:nvSpPr>
        <p:spPr>
          <a:xfrm>
            <a:off x="685800" y="2377440"/>
            <a:ext cx="219456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The need</a:t>
            </a:r>
            <a:endParaRPr lang="en-US" sz="2000" dirty="0"/>
          </a:p>
        </p:txBody>
      </p:sp>
      <p:sp>
        <p:nvSpPr>
          <p:cNvPr id="7" name="Text 4"/>
          <p:cNvSpPr txBox="1"/>
          <p:nvPr/>
        </p:nvSpPr>
        <p:spPr>
          <a:xfrm>
            <a:off x="685800" y="2834640"/>
            <a:ext cx="2194560" cy="1554480"/>
          </a:xfrm>
          <a:prstGeom prst="rect">
            <a:avLst/>
          </a:prstGeom>
          <a:noFill/>
          <a:ln/>
        </p:spPr>
        <p:txBody>
          <a:bodyPr wrap="square" lIns="0" tIns="0" rIns="0" bIns="0" rtlCol="0" anchor="t"/>
          <a:lstStyle/>
          <a:p>
            <a:pPr indent="0" marL="0">
              <a:buNone/>
            </a:pPr>
            <a:r>
              <a:rPr lang="en-US" sz="1400" dirty="0">
                <a:solidFill>
                  <a:schemeClr val="tx1"/>
                </a:solidFill>
              </a:rPr>
              <a:t>People keep asking the same things: what AI Scooty is, its price, how to buy, which papers are needed, how charging works.</a:t>
            </a:r>
            <a:endParaRPr lang="en-US" sz="1400" dirty="0"/>
          </a:p>
        </p:txBody>
      </p:sp>
      <p:sp>
        <p:nvSpPr>
          <p:cNvPr id="8" name="Card 2"/>
          <p:cNvSpPr/>
          <p:nvPr/>
        </p:nvSpPr>
        <p:spPr>
          <a:xfrm>
            <a:off x="3246120" y="1325880"/>
            <a:ext cx="2651760" cy="3200400"/>
          </a:xfrm>
          <a:prstGeom prst="roundRect">
            <a:avLst>
              <a:gd name="adj" fmla="val 2759"/>
            </a:avLst>
          </a:prstGeom>
          <a:solidFill>
            <a:schemeClr val="bg2"/>
          </a:solidFill>
          <a:ln w="12700">
            <a:solidFill>
              <a:schemeClr val="bg2"/>
            </a:solidFill>
            <a:prstDash val="solid"/>
          </a:ln>
        </p:spPr>
      </p:sp>
      <p:sp>
        <p:nvSpPr>
          <p:cNvPr id="9" name="The risk circle"/>
          <p:cNvSpPr/>
          <p:nvPr/>
        </p:nvSpPr>
        <p:spPr>
          <a:xfrm>
            <a:off x="3474720" y="1554480"/>
            <a:ext cx="640080" cy="640080"/>
          </a:xfrm>
          <a:prstGeom prst="ellipse">
            <a:avLst/>
          </a:prstGeom>
          <a:solidFill>
            <a:schemeClr val="accent3"/>
          </a:solidFill>
          <a:ln w="12700">
            <a:solidFill>
              <a:schemeClr val="accent3"/>
            </a:solidFill>
            <a:prstDash val="solid"/>
          </a:ln>
        </p:spPr>
      </p:sp>
      <p:pic>
        <p:nvPicPr>
          <p:cNvPr id="10" name="The risk icon" descr="The risk">    </p:cNvPr>
          <p:cNvPicPr>
            <a:picLocks noChangeAspect="1"/>
          </p:cNvPicPr>
          <p:nvPr/>
        </p:nvPicPr>
        <p:blipFill>
          <a:blip r:embed="rId2"/>
          <a:stretch>
            <a:fillRect/>
          </a:stretch>
        </p:blipFill>
        <p:spPr>
          <a:xfrm>
            <a:off x="3634740" y="1714500"/>
            <a:ext cx="320040" cy="320040"/>
          </a:xfrm>
          <a:prstGeom prst="rect">
            <a:avLst/>
          </a:prstGeom>
        </p:spPr>
      </p:pic>
      <p:sp>
        <p:nvSpPr>
          <p:cNvPr id="11" name="Text 7"/>
          <p:cNvSpPr txBox="1"/>
          <p:nvPr/>
        </p:nvSpPr>
        <p:spPr>
          <a:xfrm>
            <a:off x="3474720" y="2377440"/>
            <a:ext cx="219456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The risk</a:t>
            </a:r>
            <a:endParaRPr lang="en-US" sz="2000" dirty="0"/>
          </a:p>
        </p:txBody>
      </p:sp>
      <p:sp>
        <p:nvSpPr>
          <p:cNvPr id="12" name="Text 8"/>
          <p:cNvSpPr txBox="1"/>
          <p:nvPr/>
        </p:nvSpPr>
        <p:spPr>
          <a:xfrm>
            <a:off x="3474720" y="2834640"/>
            <a:ext cx="2194560" cy="1554480"/>
          </a:xfrm>
          <a:prstGeom prst="rect">
            <a:avLst/>
          </a:prstGeom>
          <a:noFill/>
          <a:ln/>
        </p:spPr>
        <p:txBody>
          <a:bodyPr wrap="square" lIns="0" tIns="0" rIns="0" bIns="0" rtlCol="0" anchor="t"/>
          <a:lstStyle/>
          <a:p>
            <a:pPr indent="0" marL="0">
              <a:buNone/>
            </a:pPr>
            <a:r>
              <a:rPr lang="en-US" sz="1400" dirty="0">
                <a:solidFill>
                  <a:schemeClr val="tx1"/>
                </a:solidFill>
              </a:rPr>
              <a:t>Small AI models (0.6B) can guess, drift off topic, or invent facts that sound right.</a:t>
            </a:r>
            <a:endParaRPr lang="en-US" sz="1400" dirty="0"/>
          </a:p>
        </p:txBody>
      </p:sp>
      <p:sp>
        <p:nvSpPr>
          <p:cNvPr id="13" name="Card 3"/>
          <p:cNvSpPr/>
          <p:nvPr/>
        </p:nvSpPr>
        <p:spPr>
          <a:xfrm>
            <a:off x="6035040" y="1325880"/>
            <a:ext cx="2651760" cy="3200400"/>
          </a:xfrm>
          <a:prstGeom prst="roundRect">
            <a:avLst>
              <a:gd name="adj" fmla="val 2759"/>
            </a:avLst>
          </a:prstGeom>
          <a:solidFill>
            <a:schemeClr val="bg2"/>
          </a:solidFill>
          <a:ln w="12700">
            <a:solidFill>
              <a:schemeClr val="bg2"/>
            </a:solidFill>
            <a:prstDash val="solid"/>
          </a:ln>
        </p:spPr>
      </p:sp>
      <p:sp>
        <p:nvSpPr>
          <p:cNvPr id="14" name="The goal circle"/>
          <p:cNvSpPr/>
          <p:nvPr/>
        </p:nvSpPr>
        <p:spPr>
          <a:xfrm>
            <a:off x="6263640" y="1554480"/>
            <a:ext cx="640080" cy="640080"/>
          </a:xfrm>
          <a:prstGeom prst="ellipse">
            <a:avLst/>
          </a:prstGeom>
          <a:solidFill>
            <a:schemeClr val="accent1"/>
          </a:solidFill>
          <a:ln w="12700">
            <a:solidFill>
              <a:schemeClr val="accent1"/>
            </a:solidFill>
            <a:prstDash val="solid"/>
          </a:ln>
        </p:spPr>
      </p:sp>
      <p:pic>
        <p:nvPicPr>
          <p:cNvPr id="15" name="The goal icon" descr="The goal">    </p:cNvPr>
          <p:cNvPicPr>
            <a:picLocks noChangeAspect="1"/>
          </p:cNvPicPr>
          <p:nvPr/>
        </p:nvPicPr>
        <p:blipFill>
          <a:blip r:embed="rId3"/>
          <a:stretch>
            <a:fillRect/>
          </a:stretch>
        </p:blipFill>
        <p:spPr>
          <a:xfrm>
            <a:off x="6423660" y="1714500"/>
            <a:ext cx="320040" cy="320040"/>
          </a:xfrm>
          <a:prstGeom prst="rect">
            <a:avLst/>
          </a:prstGeom>
        </p:spPr>
      </p:pic>
      <p:sp>
        <p:nvSpPr>
          <p:cNvPr id="16" name="Text 11"/>
          <p:cNvSpPr txBox="1"/>
          <p:nvPr/>
        </p:nvSpPr>
        <p:spPr>
          <a:xfrm>
            <a:off x="6263640" y="2377440"/>
            <a:ext cx="219456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The goal</a:t>
            </a:r>
            <a:endParaRPr lang="en-US" sz="2000" dirty="0"/>
          </a:p>
        </p:txBody>
      </p:sp>
      <p:sp>
        <p:nvSpPr>
          <p:cNvPr id="17" name="Text 12"/>
          <p:cNvSpPr txBox="1"/>
          <p:nvPr/>
        </p:nvSpPr>
        <p:spPr>
          <a:xfrm>
            <a:off x="6263640" y="2834640"/>
            <a:ext cx="2194560" cy="1554480"/>
          </a:xfrm>
          <a:prstGeom prst="rect">
            <a:avLst/>
          </a:prstGeom>
          <a:noFill/>
          <a:ln/>
        </p:spPr>
        <p:txBody>
          <a:bodyPr wrap="square" lIns="0" tIns="0" rIns="0" bIns="0" rtlCol="0" anchor="t"/>
          <a:lstStyle/>
          <a:p>
            <a:pPr indent="0" marL="0">
              <a:buNone/>
            </a:pPr>
            <a:r>
              <a:rPr lang="en-US" sz="1400" dirty="0">
                <a:solidFill>
                  <a:schemeClr val="tx1"/>
                </a:solidFill>
              </a:rPr>
              <a:t>A bot that answers only from verified knowledge and hands over to customer support when it is unsure.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2"/>
                </a:solidFill>
              </a:rPr>
              <a:t>What the bot can do</a:t>
            </a:r>
            <a:endParaRPr lang="en-US" sz="3400" dirty="0"/>
          </a:p>
        </p:txBody>
      </p:sp>
      <p:sp>
        <p:nvSpPr>
          <p:cNvPr id="3" name="Feature 1"/>
          <p:cNvSpPr/>
          <p:nvPr/>
        </p:nvSpPr>
        <p:spPr>
          <a:xfrm>
            <a:off x="457200" y="1280160"/>
            <a:ext cx="2651760" cy="1600200"/>
          </a:xfrm>
          <a:prstGeom prst="roundRect">
            <a:avLst>
              <a:gd name="adj" fmla="val 4571"/>
            </a:avLst>
          </a:prstGeom>
          <a:solidFill>
            <a:schemeClr val="bg2"/>
          </a:solidFill>
          <a:ln w="12700">
            <a:solidFill>
              <a:schemeClr val="bg2"/>
            </a:solidFill>
            <a:prstDash val="solid"/>
          </a:ln>
        </p:spPr>
      </p:sp>
      <p:sp>
        <p:nvSpPr>
          <p:cNvPr id="4" name="Windows 11-style chat circle"/>
          <p:cNvSpPr/>
          <p:nvPr/>
        </p:nvSpPr>
        <p:spPr>
          <a:xfrm>
            <a:off x="640080" y="1444752"/>
            <a:ext cx="457200" cy="457200"/>
          </a:xfrm>
          <a:prstGeom prst="ellipse">
            <a:avLst/>
          </a:prstGeom>
          <a:solidFill>
            <a:schemeClr val="accent2"/>
          </a:solidFill>
          <a:ln w="12700">
            <a:solidFill>
              <a:schemeClr val="accent2"/>
            </a:solidFill>
            <a:prstDash val="solid"/>
          </a:ln>
        </p:spPr>
      </p:sp>
      <p:pic>
        <p:nvPicPr>
          <p:cNvPr id="5" name="Windows 11-style chat icon" descr="Windows 11-style chat">    </p:cNvPr>
          <p:cNvPicPr>
            <a:picLocks noChangeAspect="1"/>
          </p:cNvPicPr>
          <p:nvPr/>
        </p:nvPicPr>
        <p:blipFill>
          <a:blip r:embed="rId1"/>
          <a:stretch>
            <a:fillRect/>
          </a:stretch>
        </p:blipFill>
        <p:spPr>
          <a:xfrm>
            <a:off x="754380" y="1559052"/>
            <a:ext cx="228600" cy="228600"/>
          </a:xfrm>
          <a:prstGeom prst="rect">
            <a:avLst/>
          </a:prstGeom>
        </p:spPr>
      </p:pic>
      <p:sp>
        <p:nvSpPr>
          <p:cNvPr id="6" name="Text 3"/>
          <p:cNvSpPr txBox="1"/>
          <p:nvPr/>
        </p:nvSpPr>
        <p:spPr>
          <a:xfrm>
            <a:off x="640080" y="1993392"/>
            <a:ext cx="2331720" cy="292608"/>
          </a:xfrm>
          <a:prstGeom prst="rect">
            <a:avLst/>
          </a:prstGeom>
          <a:noFill/>
          <a:ln/>
        </p:spPr>
        <p:txBody>
          <a:bodyPr wrap="square" lIns="0" tIns="0" rIns="0" bIns="0" rtlCol="0" anchor="t"/>
          <a:lstStyle/>
          <a:p>
            <a:pPr indent="0" marL="0">
              <a:buNone/>
            </a:pPr>
            <a:r>
              <a:rPr lang="en-US" sz="1600" b="1" dirty="0">
                <a:solidFill>
                  <a:schemeClr val="tx2"/>
                </a:solidFill>
              </a:rPr>
              <a:t>Windows 11-style chat</a:t>
            </a:r>
            <a:endParaRPr lang="en-US" sz="1600" dirty="0"/>
          </a:p>
        </p:txBody>
      </p:sp>
      <p:sp>
        <p:nvSpPr>
          <p:cNvPr id="7" name="Text 4"/>
          <p:cNvSpPr txBox="1"/>
          <p:nvPr/>
        </p:nvSpPr>
        <p:spPr>
          <a:xfrm>
            <a:off x="640080" y="2286000"/>
            <a:ext cx="2331720" cy="502920"/>
          </a:xfrm>
          <a:prstGeom prst="rect">
            <a:avLst/>
          </a:prstGeom>
          <a:noFill/>
          <a:ln/>
        </p:spPr>
        <p:txBody>
          <a:bodyPr wrap="square" lIns="0" tIns="0" rIns="0" bIns="0" rtlCol="0" anchor="t"/>
          <a:lstStyle/>
          <a:p>
            <a:pPr indent="0" marL="0">
              <a:buNone/>
            </a:pPr>
            <a:r>
              <a:rPr lang="en-US" sz="1400" dirty="0">
                <a:solidFill>
                  <a:schemeClr val="tx1"/>
                </a:solidFill>
              </a:rPr>
              <a:t>Chat window over the AI Scooty home page</a:t>
            </a:r>
            <a:endParaRPr lang="en-US" sz="1400" dirty="0"/>
          </a:p>
        </p:txBody>
      </p:sp>
      <p:sp>
        <p:nvSpPr>
          <p:cNvPr id="8" name="Feature 2"/>
          <p:cNvSpPr/>
          <p:nvPr/>
        </p:nvSpPr>
        <p:spPr>
          <a:xfrm>
            <a:off x="3246120" y="1280160"/>
            <a:ext cx="2651760" cy="1600200"/>
          </a:xfrm>
          <a:prstGeom prst="roundRect">
            <a:avLst>
              <a:gd name="adj" fmla="val 4571"/>
            </a:avLst>
          </a:prstGeom>
          <a:solidFill>
            <a:schemeClr val="bg2"/>
          </a:solidFill>
          <a:ln w="12700">
            <a:solidFill>
              <a:schemeClr val="bg2"/>
            </a:solidFill>
            <a:prstDash val="solid"/>
          </a:ln>
        </p:spPr>
      </p:sp>
      <p:sp>
        <p:nvSpPr>
          <p:cNvPr id="9" name="Themes circle"/>
          <p:cNvSpPr/>
          <p:nvPr/>
        </p:nvSpPr>
        <p:spPr>
          <a:xfrm>
            <a:off x="3429000" y="1444752"/>
            <a:ext cx="457200" cy="457200"/>
          </a:xfrm>
          <a:prstGeom prst="ellipse">
            <a:avLst/>
          </a:prstGeom>
          <a:solidFill>
            <a:schemeClr val="accent2"/>
          </a:solidFill>
          <a:ln w="12700">
            <a:solidFill>
              <a:schemeClr val="accent2"/>
            </a:solidFill>
            <a:prstDash val="solid"/>
          </a:ln>
        </p:spPr>
      </p:sp>
      <p:pic>
        <p:nvPicPr>
          <p:cNvPr id="10" name="Themes icon" descr="Themes">    </p:cNvPr>
          <p:cNvPicPr>
            <a:picLocks noChangeAspect="1"/>
          </p:cNvPicPr>
          <p:nvPr/>
        </p:nvPicPr>
        <p:blipFill>
          <a:blip r:embed="rId2"/>
          <a:stretch>
            <a:fillRect/>
          </a:stretch>
        </p:blipFill>
        <p:spPr>
          <a:xfrm>
            <a:off x="3543300" y="1559052"/>
            <a:ext cx="228600" cy="228600"/>
          </a:xfrm>
          <a:prstGeom prst="rect">
            <a:avLst/>
          </a:prstGeom>
        </p:spPr>
      </p:pic>
      <p:sp>
        <p:nvSpPr>
          <p:cNvPr id="11" name="Text 7"/>
          <p:cNvSpPr txBox="1"/>
          <p:nvPr/>
        </p:nvSpPr>
        <p:spPr>
          <a:xfrm>
            <a:off x="3429000" y="1993392"/>
            <a:ext cx="2331720" cy="292608"/>
          </a:xfrm>
          <a:prstGeom prst="rect">
            <a:avLst/>
          </a:prstGeom>
          <a:noFill/>
          <a:ln/>
        </p:spPr>
        <p:txBody>
          <a:bodyPr wrap="square" lIns="0" tIns="0" rIns="0" bIns="0" rtlCol="0" anchor="t"/>
          <a:lstStyle/>
          <a:p>
            <a:pPr indent="0" marL="0">
              <a:buNone/>
            </a:pPr>
            <a:r>
              <a:rPr lang="en-US" sz="1600" b="1" dirty="0">
                <a:solidFill>
                  <a:schemeClr val="tx2"/>
                </a:solidFill>
              </a:rPr>
              <a:t>Themes</a:t>
            </a:r>
            <a:endParaRPr lang="en-US" sz="1600" dirty="0"/>
          </a:p>
        </p:txBody>
      </p:sp>
      <p:sp>
        <p:nvSpPr>
          <p:cNvPr id="12" name="Text 8"/>
          <p:cNvSpPr txBox="1"/>
          <p:nvPr/>
        </p:nvSpPr>
        <p:spPr>
          <a:xfrm>
            <a:off x="3429000" y="2286000"/>
            <a:ext cx="2331720" cy="502920"/>
          </a:xfrm>
          <a:prstGeom prst="rect">
            <a:avLst/>
          </a:prstGeom>
          <a:noFill/>
          <a:ln/>
        </p:spPr>
        <p:txBody>
          <a:bodyPr wrap="square" lIns="0" tIns="0" rIns="0" bIns="0" rtlCol="0" anchor="t"/>
          <a:lstStyle/>
          <a:p>
            <a:pPr indent="0" marL="0">
              <a:buNone/>
            </a:pPr>
            <a:r>
              <a:rPr lang="en-US" sz="1400" dirty="0">
                <a:solidFill>
                  <a:schemeClr val="tx1"/>
                </a:solidFill>
              </a:rPr>
              <a:t>Light, Dark, System and 6 accent colors</a:t>
            </a:r>
            <a:endParaRPr lang="en-US" sz="1400" dirty="0"/>
          </a:p>
        </p:txBody>
      </p:sp>
      <p:sp>
        <p:nvSpPr>
          <p:cNvPr id="13" name="Feature 3"/>
          <p:cNvSpPr/>
          <p:nvPr/>
        </p:nvSpPr>
        <p:spPr>
          <a:xfrm>
            <a:off x="6035040" y="1280160"/>
            <a:ext cx="2651760" cy="1600200"/>
          </a:xfrm>
          <a:prstGeom prst="roundRect">
            <a:avLst>
              <a:gd name="adj" fmla="val 4571"/>
            </a:avLst>
          </a:prstGeom>
          <a:solidFill>
            <a:schemeClr val="bg2"/>
          </a:solidFill>
          <a:ln w="12700">
            <a:solidFill>
              <a:schemeClr val="bg2"/>
            </a:solidFill>
            <a:prstDash val="solid"/>
          </a:ln>
        </p:spPr>
      </p:sp>
      <p:sp>
        <p:nvSpPr>
          <p:cNvPr id="14" name="Saved chat circle"/>
          <p:cNvSpPr/>
          <p:nvPr/>
        </p:nvSpPr>
        <p:spPr>
          <a:xfrm>
            <a:off x="6217920" y="1444752"/>
            <a:ext cx="457200" cy="457200"/>
          </a:xfrm>
          <a:prstGeom prst="ellipse">
            <a:avLst/>
          </a:prstGeom>
          <a:solidFill>
            <a:schemeClr val="accent2"/>
          </a:solidFill>
          <a:ln w="12700">
            <a:solidFill>
              <a:schemeClr val="accent2"/>
            </a:solidFill>
            <a:prstDash val="solid"/>
          </a:ln>
        </p:spPr>
      </p:sp>
      <p:pic>
        <p:nvPicPr>
          <p:cNvPr id="15" name="Saved chat icon" descr="Saved chat">    </p:cNvPr>
          <p:cNvPicPr>
            <a:picLocks noChangeAspect="1"/>
          </p:cNvPicPr>
          <p:nvPr/>
        </p:nvPicPr>
        <p:blipFill>
          <a:blip r:embed="rId3"/>
          <a:stretch>
            <a:fillRect/>
          </a:stretch>
        </p:blipFill>
        <p:spPr>
          <a:xfrm>
            <a:off x="6332220" y="1559052"/>
            <a:ext cx="228600" cy="228600"/>
          </a:xfrm>
          <a:prstGeom prst="rect">
            <a:avLst/>
          </a:prstGeom>
        </p:spPr>
      </p:pic>
      <p:sp>
        <p:nvSpPr>
          <p:cNvPr id="16" name="Text 11"/>
          <p:cNvSpPr txBox="1"/>
          <p:nvPr/>
        </p:nvSpPr>
        <p:spPr>
          <a:xfrm>
            <a:off x="6217920" y="1993392"/>
            <a:ext cx="2331720" cy="292608"/>
          </a:xfrm>
          <a:prstGeom prst="rect">
            <a:avLst/>
          </a:prstGeom>
          <a:noFill/>
          <a:ln/>
        </p:spPr>
        <p:txBody>
          <a:bodyPr wrap="square" lIns="0" tIns="0" rIns="0" bIns="0" rtlCol="0" anchor="t"/>
          <a:lstStyle/>
          <a:p>
            <a:pPr indent="0" marL="0">
              <a:buNone/>
            </a:pPr>
            <a:r>
              <a:rPr lang="en-US" sz="1600" b="1" dirty="0">
                <a:solidFill>
                  <a:schemeClr val="tx2"/>
                </a:solidFill>
              </a:rPr>
              <a:t>Saved chat</a:t>
            </a:r>
            <a:endParaRPr lang="en-US" sz="1600" dirty="0"/>
          </a:p>
        </p:txBody>
      </p:sp>
      <p:sp>
        <p:nvSpPr>
          <p:cNvPr id="17" name="Text 12"/>
          <p:cNvSpPr txBox="1"/>
          <p:nvPr/>
        </p:nvSpPr>
        <p:spPr>
          <a:xfrm>
            <a:off x="6217920" y="2286000"/>
            <a:ext cx="2331720" cy="502920"/>
          </a:xfrm>
          <a:prstGeom prst="rect">
            <a:avLst/>
          </a:prstGeom>
          <a:noFill/>
          <a:ln/>
        </p:spPr>
        <p:txBody>
          <a:bodyPr wrap="square" lIns="0" tIns="0" rIns="0" bIns="0" rtlCol="0" anchor="t"/>
          <a:lstStyle/>
          <a:p>
            <a:pPr indent="0" marL="0">
              <a:buNone/>
            </a:pPr>
            <a:r>
              <a:rPr lang="en-US" sz="1400" dirty="0">
                <a:solidFill>
                  <a:schemeClr val="tx1"/>
                </a:solidFill>
              </a:rPr>
              <a:t>Stays in the browser after a refresh</a:t>
            </a:r>
            <a:endParaRPr lang="en-US" sz="1400" dirty="0"/>
          </a:p>
        </p:txBody>
      </p:sp>
      <p:sp>
        <p:nvSpPr>
          <p:cNvPr id="18" name="Feature 4"/>
          <p:cNvSpPr/>
          <p:nvPr/>
        </p:nvSpPr>
        <p:spPr>
          <a:xfrm>
            <a:off x="457200" y="3017520"/>
            <a:ext cx="2651760" cy="1600200"/>
          </a:xfrm>
          <a:prstGeom prst="roundRect">
            <a:avLst>
              <a:gd name="adj" fmla="val 4571"/>
            </a:avLst>
          </a:prstGeom>
          <a:solidFill>
            <a:schemeClr val="bg2"/>
          </a:solidFill>
          <a:ln w="12700">
            <a:solidFill>
              <a:schemeClr val="bg2"/>
            </a:solidFill>
            <a:prstDash val="solid"/>
          </a:ln>
        </p:spPr>
      </p:sp>
      <p:sp>
        <p:nvSpPr>
          <p:cNvPr id="19" name="50+ phrasings circle"/>
          <p:cNvSpPr/>
          <p:nvPr/>
        </p:nvSpPr>
        <p:spPr>
          <a:xfrm>
            <a:off x="640080" y="3182112"/>
            <a:ext cx="457200" cy="457200"/>
          </a:xfrm>
          <a:prstGeom prst="ellipse">
            <a:avLst/>
          </a:prstGeom>
          <a:solidFill>
            <a:schemeClr val="accent2"/>
          </a:solidFill>
          <a:ln w="12700">
            <a:solidFill>
              <a:schemeClr val="accent2"/>
            </a:solidFill>
            <a:prstDash val="solid"/>
          </a:ln>
        </p:spPr>
      </p:sp>
      <p:pic>
        <p:nvPicPr>
          <p:cNvPr id="20" name="50+ phrasings icon" descr="50+ phrasings">    </p:cNvPr>
          <p:cNvPicPr>
            <a:picLocks noChangeAspect="1"/>
          </p:cNvPicPr>
          <p:nvPr/>
        </p:nvPicPr>
        <p:blipFill>
          <a:blip r:embed="rId4"/>
          <a:stretch>
            <a:fillRect/>
          </a:stretch>
        </p:blipFill>
        <p:spPr>
          <a:xfrm>
            <a:off x="754380" y="3296412"/>
            <a:ext cx="228600" cy="228600"/>
          </a:xfrm>
          <a:prstGeom prst="rect">
            <a:avLst/>
          </a:prstGeom>
        </p:spPr>
      </p:pic>
      <p:sp>
        <p:nvSpPr>
          <p:cNvPr id="21" name="Text 15"/>
          <p:cNvSpPr txBox="1"/>
          <p:nvPr/>
        </p:nvSpPr>
        <p:spPr>
          <a:xfrm>
            <a:off x="640080" y="3730752"/>
            <a:ext cx="2331720" cy="292608"/>
          </a:xfrm>
          <a:prstGeom prst="rect">
            <a:avLst/>
          </a:prstGeom>
          <a:noFill/>
          <a:ln/>
        </p:spPr>
        <p:txBody>
          <a:bodyPr wrap="square" lIns="0" tIns="0" rIns="0" bIns="0" rtlCol="0" anchor="t"/>
          <a:lstStyle/>
          <a:p>
            <a:pPr indent="0" marL="0">
              <a:buNone/>
            </a:pPr>
            <a:r>
              <a:rPr lang="en-US" sz="1600" b="1" dirty="0">
                <a:solidFill>
                  <a:schemeClr val="tx2"/>
                </a:solidFill>
              </a:rPr>
              <a:t>50+ phrasings</a:t>
            </a:r>
            <a:endParaRPr lang="en-US" sz="1600" dirty="0"/>
          </a:p>
        </p:txBody>
      </p:sp>
      <p:sp>
        <p:nvSpPr>
          <p:cNvPr id="22" name="Text 16"/>
          <p:cNvSpPr txBox="1"/>
          <p:nvPr/>
        </p:nvSpPr>
        <p:spPr>
          <a:xfrm>
            <a:off x="640080" y="4023360"/>
            <a:ext cx="2331720" cy="502920"/>
          </a:xfrm>
          <a:prstGeom prst="rect">
            <a:avLst/>
          </a:prstGeom>
          <a:noFill/>
          <a:ln/>
        </p:spPr>
        <p:txBody>
          <a:bodyPr wrap="square" lIns="0" tIns="0" rIns="0" bIns="0" rtlCol="0" anchor="t"/>
          <a:lstStyle/>
          <a:p>
            <a:pPr indent="0" marL="0">
              <a:buNone/>
            </a:pPr>
            <a:r>
              <a:rPr lang="en-US" sz="1400" dirty="0">
                <a:solidFill>
                  <a:schemeClr val="tx1"/>
                </a:solidFill>
              </a:rPr>
              <a:t>Each question is understood many ways</a:t>
            </a:r>
            <a:endParaRPr lang="en-US" sz="1400" dirty="0"/>
          </a:p>
        </p:txBody>
      </p:sp>
      <p:sp>
        <p:nvSpPr>
          <p:cNvPr id="23" name="Feature 5"/>
          <p:cNvSpPr/>
          <p:nvPr/>
        </p:nvSpPr>
        <p:spPr>
          <a:xfrm>
            <a:off x="3246120" y="3017520"/>
            <a:ext cx="2651760" cy="1600200"/>
          </a:xfrm>
          <a:prstGeom prst="roundRect">
            <a:avLst>
              <a:gd name="adj" fmla="val 4571"/>
            </a:avLst>
          </a:prstGeom>
          <a:solidFill>
            <a:schemeClr val="bg2"/>
          </a:solidFill>
          <a:ln w="12700">
            <a:solidFill>
              <a:schemeClr val="bg2"/>
            </a:solidFill>
            <a:prstDash val="solid"/>
          </a:ln>
        </p:spPr>
      </p:sp>
      <p:sp>
        <p:nvSpPr>
          <p:cNvPr id="24" name="No invented answers circle"/>
          <p:cNvSpPr/>
          <p:nvPr/>
        </p:nvSpPr>
        <p:spPr>
          <a:xfrm>
            <a:off x="3429000" y="3182112"/>
            <a:ext cx="457200" cy="457200"/>
          </a:xfrm>
          <a:prstGeom prst="ellipse">
            <a:avLst/>
          </a:prstGeom>
          <a:solidFill>
            <a:schemeClr val="accent2"/>
          </a:solidFill>
          <a:ln w="12700">
            <a:solidFill>
              <a:schemeClr val="accent2"/>
            </a:solidFill>
            <a:prstDash val="solid"/>
          </a:ln>
        </p:spPr>
      </p:sp>
      <p:pic>
        <p:nvPicPr>
          <p:cNvPr id="25" name="No invented answers icon" descr="No invented answers">    </p:cNvPr>
          <p:cNvPicPr>
            <a:picLocks noChangeAspect="1"/>
          </p:cNvPicPr>
          <p:nvPr/>
        </p:nvPicPr>
        <p:blipFill>
          <a:blip r:embed="rId5"/>
          <a:stretch>
            <a:fillRect/>
          </a:stretch>
        </p:blipFill>
        <p:spPr>
          <a:xfrm>
            <a:off x="3543300" y="3296412"/>
            <a:ext cx="228600" cy="228600"/>
          </a:xfrm>
          <a:prstGeom prst="rect">
            <a:avLst/>
          </a:prstGeom>
        </p:spPr>
      </p:pic>
      <p:sp>
        <p:nvSpPr>
          <p:cNvPr id="26" name="Text 19"/>
          <p:cNvSpPr txBox="1"/>
          <p:nvPr/>
        </p:nvSpPr>
        <p:spPr>
          <a:xfrm>
            <a:off x="3429000" y="3730752"/>
            <a:ext cx="2331720" cy="292608"/>
          </a:xfrm>
          <a:prstGeom prst="rect">
            <a:avLst/>
          </a:prstGeom>
          <a:noFill/>
          <a:ln/>
        </p:spPr>
        <p:txBody>
          <a:bodyPr wrap="square" lIns="0" tIns="0" rIns="0" bIns="0" rtlCol="0" anchor="t"/>
          <a:lstStyle/>
          <a:p>
            <a:pPr indent="0" marL="0">
              <a:buNone/>
            </a:pPr>
            <a:r>
              <a:rPr lang="en-US" sz="1600" b="1" dirty="0">
                <a:solidFill>
                  <a:schemeClr val="tx2"/>
                </a:solidFill>
              </a:rPr>
              <a:t>No invented answers</a:t>
            </a:r>
            <a:endParaRPr lang="en-US" sz="1600" dirty="0"/>
          </a:p>
        </p:txBody>
      </p:sp>
      <p:sp>
        <p:nvSpPr>
          <p:cNvPr id="27" name="Text 20"/>
          <p:cNvSpPr txBox="1"/>
          <p:nvPr/>
        </p:nvSpPr>
        <p:spPr>
          <a:xfrm>
            <a:off x="3429000" y="4023360"/>
            <a:ext cx="2331720" cy="502920"/>
          </a:xfrm>
          <a:prstGeom prst="rect">
            <a:avLst/>
          </a:prstGeom>
          <a:noFill/>
          <a:ln/>
        </p:spPr>
        <p:txBody>
          <a:bodyPr wrap="square" lIns="0" tIns="0" rIns="0" bIns="0" rtlCol="0" anchor="t"/>
          <a:lstStyle/>
          <a:p>
            <a:pPr indent="0" marL="0">
              <a:buNone/>
            </a:pPr>
            <a:r>
              <a:rPr lang="en-US" sz="1400" dirty="0">
                <a:solidFill>
                  <a:schemeClr val="tx1"/>
                </a:solidFill>
              </a:rPr>
              <a:t>Not sure? It shows the support number</a:t>
            </a:r>
            <a:endParaRPr lang="en-US" sz="1400" dirty="0"/>
          </a:p>
        </p:txBody>
      </p:sp>
      <p:sp>
        <p:nvSpPr>
          <p:cNvPr id="28" name="Feature 6"/>
          <p:cNvSpPr/>
          <p:nvPr/>
        </p:nvSpPr>
        <p:spPr>
          <a:xfrm>
            <a:off x="6035040" y="3017520"/>
            <a:ext cx="2651760" cy="1600200"/>
          </a:xfrm>
          <a:prstGeom prst="roundRect">
            <a:avLst>
              <a:gd name="adj" fmla="val 4571"/>
            </a:avLst>
          </a:prstGeom>
          <a:solidFill>
            <a:schemeClr val="bg2"/>
          </a:solidFill>
          <a:ln w="12700">
            <a:solidFill>
              <a:schemeClr val="bg2"/>
            </a:solidFill>
            <a:prstDash val="solid"/>
          </a:ln>
        </p:spPr>
      </p:sp>
      <p:sp>
        <p:nvSpPr>
          <p:cNvPr id="29" name="Works without Ollama circle"/>
          <p:cNvSpPr/>
          <p:nvPr/>
        </p:nvSpPr>
        <p:spPr>
          <a:xfrm>
            <a:off x="6217920" y="3182112"/>
            <a:ext cx="457200" cy="457200"/>
          </a:xfrm>
          <a:prstGeom prst="ellipse">
            <a:avLst/>
          </a:prstGeom>
          <a:solidFill>
            <a:schemeClr val="accent2"/>
          </a:solidFill>
          <a:ln w="12700">
            <a:solidFill>
              <a:schemeClr val="accent2"/>
            </a:solidFill>
            <a:prstDash val="solid"/>
          </a:ln>
        </p:spPr>
      </p:sp>
      <p:pic>
        <p:nvPicPr>
          <p:cNvPr id="30" name="Works without Ollama icon" descr="Works without Ollama">    </p:cNvPr>
          <p:cNvPicPr>
            <a:picLocks noChangeAspect="1"/>
          </p:cNvPicPr>
          <p:nvPr/>
        </p:nvPicPr>
        <p:blipFill>
          <a:blip r:embed="rId6"/>
          <a:stretch>
            <a:fillRect/>
          </a:stretch>
        </p:blipFill>
        <p:spPr>
          <a:xfrm>
            <a:off x="6332220" y="3296412"/>
            <a:ext cx="228600" cy="228600"/>
          </a:xfrm>
          <a:prstGeom prst="rect">
            <a:avLst/>
          </a:prstGeom>
        </p:spPr>
      </p:pic>
      <p:sp>
        <p:nvSpPr>
          <p:cNvPr id="31" name="Text 23"/>
          <p:cNvSpPr txBox="1"/>
          <p:nvPr/>
        </p:nvSpPr>
        <p:spPr>
          <a:xfrm>
            <a:off x="6217920" y="3730752"/>
            <a:ext cx="2331720" cy="292608"/>
          </a:xfrm>
          <a:prstGeom prst="rect">
            <a:avLst/>
          </a:prstGeom>
          <a:noFill/>
          <a:ln/>
        </p:spPr>
        <p:txBody>
          <a:bodyPr wrap="square" lIns="0" tIns="0" rIns="0" bIns="0" rtlCol="0" anchor="t"/>
          <a:lstStyle/>
          <a:p>
            <a:pPr indent="0" marL="0">
              <a:buNone/>
            </a:pPr>
            <a:r>
              <a:rPr lang="en-US" sz="1600" b="1" dirty="0">
                <a:solidFill>
                  <a:schemeClr val="tx2"/>
                </a:solidFill>
              </a:rPr>
              <a:t>Works without Ollama</a:t>
            </a:r>
            <a:endParaRPr lang="en-US" sz="1600" dirty="0"/>
          </a:p>
        </p:txBody>
      </p:sp>
      <p:sp>
        <p:nvSpPr>
          <p:cNvPr id="32" name="Text 24"/>
          <p:cNvSpPr txBox="1"/>
          <p:nvPr/>
        </p:nvSpPr>
        <p:spPr>
          <a:xfrm>
            <a:off x="6217920" y="4023360"/>
            <a:ext cx="2331720" cy="502920"/>
          </a:xfrm>
          <a:prstGeom prst="rect">
            <a:avLst/>
          </a:prstGeom>
          <a:noFill/>
          <a:ln/>
        </p:spPr>
        <p:txBody>
          <a:bodyPr wrap="square" lIns="0" tIns="0" rIns="0" bIns="0" rtlCol="0" anchor="t"/>
          <a:lstStyle/>
          <a:p>
            <a:pPr indent="0" marL="0">
              <a:buNone/>
            </a:pPr>
            <a:r>
              <a:rPr lang="en-US" sz="1400" dirty="0">
                <a:solidFill>
                  <a:schemeClr val="tx1"/>
                </a:solidFill>
              </a:rPr>
              <a:t>Falls back to the written answer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2"/>
                </a:solidFill>
              </a:rPr>
              <a:t>How a question travels</a:t>
            </a:r>
            <a:endParaRPr lang="en-US" sz="3400" dirty="0"/>
          </a:p>
        </p:txBody>
      </p:sp>
      <p:sp>
        <p:nvSpPr>
          <p:cNvPr id="3" name="Step 1"/>
          <p:cNvSpPr/>
          <p:nvPr/>
        </p:nvSpPr>
        <p:spPr>
          <a:xfrm>
            <a:off x="525780" y="1280160"/>
            <a:ext cx="1783080" cy="1005840"/>
          </a:xfrm>
          <a:prstGeom prst="roundRect">
            <a:avLst>
              <a:gd name="adj" fmla="val 7273"/>
            </a:avLst>
          </a:prstGeom>
          <a:solidFill>
            <a:schemeClr val="tx2"/>
          </a:solidFill>
          <a:ln w="12700">
            <a:solidFill>
              <a:schemeClr val="tx2"/>
            </a:solidFill>
            <a:prstDash val="solid"/>
          </a:ln>
        </p:spPr>
      </p:sp>
      <p:sp>
        <p:nvSpPr>
          <p:cNvPr id="4" name="Text 2"/>
          <p:cNvSpPr txBox="1"/>
          <p:nvPr/>
        </p:nvSpPr>
        <p:spPr>
          <a:xfrm>
            <a:off x="617220" y="1417320"/>
            <a:ext cx="1600200" cy="365760"/>
          </a:xfrm>
          <a:prstGeom prst="rect">
            <a:avLst/>
          </a:prstGeom>
          <a:noFill/>
          <a:ln/>
        </p:spPr>
        <p:txBody>
          <a:bodyPr wrap="square" lIns="0" tIns="0" rIns="0" bIns="0" rtlCol="0" anchor="t"/>
          <a:lstStyle/>
          <a:p>
            <a:pPr algn="ctr" indent="0" marL="0">
              <a:buNone/>
            </a:pPr>
            <a:r>
              <a:rPr lang="en-US" sz="1800" b="1" dirty="0">
                <a:solidFill>
                  <a:schemeClr val="bg1"/>
                </a:solidFill>
                <a:latin typeface="Cambria" pitchFamily="34" charset="0"/>
                <a:ea typeface="Cambria" pitchFamily="34" charset="-122"/>
                <a:cs typeface="Cambria" pitchFamily="34" charset="-120"/>
              </a:rPr>
              <a:t>Chat UI</a:t>
            </a:r>
            <a:endParaRPr lang="en-US" sz="1800" dirty="0"/>
          </a:p>
        </p:txBody>
      </p:sp>
      <p:sp>
        <p:nvSpPr>
          <p:cNvPr id="5" name="Text 3"/>
          <p:cNvSpPr txBox="1"/>
          <p:nvPr/>
        </p:nvSpPr>
        <p:spPr>
          <a:xfrm>
            <a:off x="617220" y="1828800"/>
            <a:ext cx="1600200" cy="365760"/>
          </a:xfrm>
          <a:prstGeom prst="rect">
            <a:avLst/>
          </a:prstGeom>
          <a:noFill/>
          <a:ln/>
        </p:spPr>
        <p:txBody>
          <a:bodyPr wrap="square" lIns="0" tIns="0" rIns="0" bIns="0" rtlCol="0" anchor="t"/>
          <a:lstStyle/>
          <a:p>
            <a:pPr algn="ctr" indent="0" marL="0">
              <a:buNone/>
            </a:pPr>
            <a:r>
              <a:rPr lang="en-US" sz="1200" dirty="0">
                <a:solidFill>
                  <a:schemeClr val="bg2"/>
                </a:solidFill>
              </a:rPr>
              <a:t>static/</a:t>
            </a:r>
            <a:endParaRPr lang="en-US" sz="1200" dirty="0"/>
          </a:p>
        </p:txBody>
      </p:sp>
      <p:sp>
        <p:nvSpPr>
          <p:cNvPr id="6" name="Arrow 1"/>
          <p:cNvSpPr/>
          <p:nvPr/>
        </p:nvSpPr>
        <p:spPr>
          <a:xfrm>
            <a:off x="2336292" y="1664208"/>
            <a:ext cx="274320" cy="237744"/>
          </a:xfrm>
          <a:prstGeom prst="rightArrow">
            <a:avLst/>
          </a:prstGeom>
          <a:solidFill>
            <a:schemeClr val="accent1"/>
          </a:solidFill>
          <a:ln w="12700">
            <a:solidFill>
              <a:schemeClr val="accent1"/>
            </a:solidFill>
            <a:prstDash val="solid"/>
          </a:ln>
        </p:spPr>
      </p:sp>
      <p:sp>
        <p:nvSpPr>
          <p:cNvPr id="7" name="Step 2"/>
          <p:cNvSpPr/>
          <p:nvPr/>
        </p:nvSpPr>
        <p:spPr>
          <a:xfrm>
            <a:off x="2628900" y="1280160"/>
            <a:ext cx="1783080" cy="1005840"/>
          </a:xfrm>
          <a:prstGeom prst="roundRect">
            <a:avLst>
              <a:gd name="adj" fmla="val 7273"/>
            </a:avLst>
          </a:prstGeom>
          <a:solidFill>
            <a:schemeClr val="tx2"/>
          </a:solidFill>
          <a:ln w="12700">
            <a:solidFill>
              <a:schemeClr val="tx2"/>
            </a:solidFill>
            <a:prstDash val="solid"/>
          </a:ln>
        </p:spPr>
      </p:sp>
      <p:sp>
        <p:nvSpPr>
          <p:cNvPr id="8" name="Text 6"/>
          <p:cNvSpPr txBox="1"/>
          <p:nvPr/>
        </p:nvSpPr>
        <p:spPr>
          <a:xfrm>
            <a:off x="2720340" y="1417320"/>
            <a:ext cx="1600200" cy="365760"/>
          </a:xfrm>
          <a:prstGeom prst="rect">
            <a:avLst/>
          </a:prstGeom>
          <a:noFill/>
          <a:ln/>
        </p:spPr>
        <p:txBody>
          <a:bodyPr wrap="square" lIns="0" tIns="0" rIns="0" bIns="0" rtlCol="0" anchor="t"/>
          <a:lstStyle/>
          <a:p>
            <a:pPr algn="ctr" indent="0" marL="0">
              <a:buNone/>
            </a:pPr>
            <a:r>
              <a:rPr lang="en-US" sz="1800" b="1" dirty="0">
                <a:solidFill>
                  <a:schemeClr val="bg1"/>
                </a:solidFill>
                <a:latin typeface="Cambria" pitchFamily="34" charset="0"/>
                <a:ea typeface="Cambria" pitchFamily="34" charset="-122"/>
                <a:cs typeface="Cambria" pitchFamily="34" charset="-120"/>
              </a:rPr>
              <a:t>FastAPI</a:t>
            </a:r>
            <a:endParaRPr lang="en-US" sz="1800" dirty="0"/>
          </a:p>
        </p:txBody>
      </p:sp>
      <p:sp>
        <p:nvSpPr>
          <p:cNvPr id="9" name="Text 7"/>
          <p:cNvSpPr txBox="1"/>
          <p:nvPr/>
        </p:nvSpPr>
        <p:spPr>
          <a:xfrm>
            <a:off x="2720340" y="1828800"/>
            <a:ext cx="1600200" cy="365760"/>
          </a:xfrm>
          <a:prstGeom prst="rect">
            <a:avLst/>
          </a:prstGeom>
          <a:noFill/>
          <a:ln/>
        </p:spPr>
        <p:txBody>
          <a:bodyPr wrap="square" lIns="0" tIns="0" rIns="0" bIns="0" rtlCol="0" anchor="t"/>
          <a:lstStyle/>
          <a:p>
            <a:pPr algn="ctr" indent="0" marL="0">
              <a:buNone/>
            </a:pPr>
            <a:r>
              <a:rPr lang="en-US" sz="1200" dirty="0">
                <a:solidFill>
                  <a:schemeClr val="bg2"/>
                </a:solidFill>
              </a:rPr>
              <a:t>app/main.py</a:t>
            </a:r>
            <a:endParaRPr lang="en-US" sz="1200" dirty="0"/>
          </a:p>
        </p:txBody>
      </p:sp>
      <p:sp>
        <p:nvSpPr>
          <p:cNvPr id="10" name="Arrow 2"/>
          <p:cNvSpPr/>
          <p:nvPr/>
        </p:nvSpPr>
        <p:spPr>
          <a:xfrm>
            <a:off x="4439412" y="1664208"/>
            <a:ext cx="274320" cy="237744"/>
          </a:xfrm>
          <a:prstGeom prst="rightArrow">
            <a:avLst/>
          </a:prstGeom>
          <a:solidFill>
            <a:schemeClr val="accent1"/>
          </a:solidFill>
          <a:ln w="12700">
            <a:solidFill>
              <a:schemeClr val="accent1"/>
            </a:solidFill>
            <a:prstDash val="solid"/>
          </a:ln>
        </p:spPr>
      </p:sp>
      <p:sp>
        <p:nvSpPr>
          <p:cNvPr id="11" name="Step 3"/>
          <p:cNvSpPr/>
          <p:nvPr/>
        </p:nvSpPr>
        <p:spPr>
          <a:xfrm>
            <a:off x="4732020" y="1280160"/>
            <a:ext cx="1783080" cy="1005840"/>
          </a:xfrm>
          <a:prstGeom prst="roundRect">
            <a:avLst>
              <a:gd name="adj" fmla="val 7273"/>
            </a:avLst>
          </a:prstGeom>
          <a:solidFill>
            <a:schemeClr val="accent2"/>
          </a:solidFill>
          <a:ln w="12700">
            <a:solidFill>
              <a:schemeClr val="accent2"/>
            </a:solidFill>
            <a:prstDash val="solid"/>
          </a:ln>
        </p:spPr>
      </p:sp>
      <p:sp>
        <p:nvSpPr>
          <p:cNvPr id="12" name="Text 10"/>
          <p:cNvSpPr txBox="1"/>
          <p:nvPr/>
        </p:nvSpPr>
        <p:spPr>
          <a:xfrm>
            <a:off x="4823460" y="1417320"/>
            <a:ext cx="1600200" cy="365760"/>
          </a:xfrm>
          <a:prstGeom prst="rect">
            <a:avLst/>
          </a:prstGeom>
          <a:noFill/>
          <a:ln/>
        </p:spPr>
        <p:txBody>
          <a:bodyPr wrap="square" lIns="0" tIns="0" rIns="0" bIns="0" rtlCol="0" anchor="t"/>
          <a:lstStyle/>
          <a:p>
            <a:pPr algn="ctr" indent="0" marL="0">
              <a:buNone/>
            </a:pPr>
            <a:r>
              <a:rPr lang="en-US" sz="1800" b="1" dirty="0">
                <a:solidFill>
                  <a:schemeClr val="bg1"/>
                </a:solidFill>
                <a:latin typeface="Cambria" pitchFamily="34" charset="0"/>
                <a:ea typeface="Cambria" pitchFamily="34" charset="-122"/>
                <a:cs typeface="Cambria" pitchFamily="34" charset="-120"/>
              </a:rPr>
              <a:t>Matcher</a:t>
            </a:r>
            <a:endParaRPr lang="en-US" sz="1800" dirty="0"/>
          </a:p>
        </p:txBody>
      </p:sp>
      <p:sp>
        <p:nvSpPr>
          <p:cNvPr id="13" name="Text 11"/>
          <p:cNvSpPr txBox="1"/>
          <p:nvPr/>
        </p:nvSpPr>
        <p:spPr>
          <a:xfrm>
            <a:off x="4823460" y="1828800"/>
            <a:ext cx="1600200" cy="365760"/>
          </a:xfrm>
          <a:prstGeom prst="rect">
            <a:avLst/>
          </a:prstGeom>
          <a:noFill/>
          <a:ln/>
        </p:spPr>
        <p:txBody>
          <a:bodyPr wrap="square" lIns="0" tIns="0" rIns="0" bIns="0" rtlCol="0" anchor="t"/>
          <a:lstStyle/>
          <a:p>
            <a:pPr algn="ctr" indent="0" marL="0">
              <a:buNone/>
            </a:pPr>
            <a:r>
              <a:rPr lang="en-US" sz="1200" dirty="0">
                <a:solidFill>
                  <a:schemeClr val="bg2"/>
                </a:solidFill>
              </a:rPr>
              <a:t>app/matcher.py</a:t>
            </a:r>
            <a:endParaRPr lang="en-US" sz="1200" dirty="0"/>
          </a:p>
        </p:txBody>
      </p:sp>
      <p:sp>
        <p:nvSpPr>
          <p:cNvPr id="14" name="Arrow 3"/>
          <p:cNvSpPr/>
          <p:nvPr/>
        </p:nvSpPr>
        <p:spPr>
          <a:xfrm>
            <a:off x="6542532" y="1664208"/>
            <a:ext cx="274320" cy="237744"/>
          </a:xfrm>
          <a:prstGeom prst="rightArrow">
            <a:avLst/>
          </a:prstGeom>
          <a:solidFill>
            <a:schemeClr val="accent1"/>
          </a:solidFill>
          <a:ln w="12700">
            <a:solidFill>
              <a:schemeClr val="accent1"/>
            </a:solidFill>
            <a:prstDash val="solid"/>
          </a:ln>
        </p:spPr>
      </p:sp>
      <p:sp>
        <p:nvSpPr>
          <p:cNvPr id="15" name="Step 4"/>
          <p:cNvSpPr/>
          <p:nvPr/>
        </p:nvSpPr>
        <p:spPr>
          <a:xfrm>
            <a:off x="6835140" y="1280160"/>
            <a:ext cx="1783080" cy="1005840"/>
          </a:xfrm>
          <a:prstGeom prst="roundRect">
            <a:avLst>
              <a:gd name="adj" fmla="val 7273"/>
            </a:avLst>
          </a:prstGeom>
          <a:solidFill>
            <a:schemeClr val="tx2"/>
          </a:solidFill>
          <a:ln w="12700">
            <a:solidFill>
              <a:schemeClr val="tx2"/>
            </a:solidFill>
            <a:prstDash val="solid"/>
          </a:ln>
        </p:spPr>
      </p:sp>
      <p:sp>
        <p:nvSpPr>
          <p:cNvPr id="16" name="Text 14"/>
          <p:cNvSpPr txBox="1"/>
          <p:nvPr/>
        </p:nvSpPr>
        <p:spPr>
          <a:xfrm>
            <a:off x="6926580" y="1417320"/>
            <a:ext cx="1600200" cy="365760"/>
          </a:xfrm>
          <a:prstGeom prst="rect">
            <a:avLst/>
          </a:prstGeom>
          <a:noFill/>
          <a:ln/>
        </p:spPr>
        <p:txBody>
          <a:bodyPr wrap="square" lIns="0" tIns="0" rIns="0" bIns="0" rtlCol="0" anchor="t"/>
          <a:lstStyle/>
          <a:p>
            <a:pPr algn="ctr" indent="0" marL="0">
              <a:buNone/>
            </a:pPr>
            <a:r>
              <a:rPr lang="en-US" sz="1800" b="1" dirty="0">
                <a:solidFill>
                  <a:schemeClr val="bg1"/>
                </a:solidFill>
                <a:latin typeface="Cambria" pitchFamily="34" charset="0"/>
                <a:ea typeface="Cambria" pitchFamily="34" charset="-122"/>
                <a:cs typeface="Cambria" pitchFamily="34" charset="-120"/>
              </a:rPr>
              <a:t>Ollama</a:t>
            </a:r>
            <a:endParaRPr lang="en-US" sz="1800" dirty="0"/>
          </a:p>
        </p:txBody>
      </p:sp>
      <p:sp>
        <p:nvSpPr>
          <p:cNvPr id="17" name="Text 15"/>
          <p:cNvSpPr txBox="1"/>
          <p:nvPr/>
        </p:nvSpPr>
        <p:spPr>
          <a:xfrm>
            <a:off x="6926580" y="1828800"/>
            <a:ext cx="1600200" cy="365760"/>
          </a:xfrm>
          <a:prstGeom prst="rect">
            <a:avLst/>
          </a:prstGeom>
          <a:noFill/>
          <a:ln/>
        </p:spPr>
        <p:txBody>
          <a:bodyPr wrap="square" lIns="0" tIns="0" rIns="0" bIns="0" rtlCol="0" anchor="t"/>
          <a:lstStyle/>
          <a:p>
            <a:pPr algn="ctr" indent="0" marL="0">
              <a:buNone/>
            </a:pPr>
            <a:r>
              <a:rPr lang="en-US" sz="1200" dirty="0">
                <a:solidFill>
                  <a:schemeClr val="bg2"/>
                </a:solidFill>
              </a:rPr>
              <a:t>optional - app/llm.py</a:t>
            </a:r>
            <a:endParaRPr lang="en-US" sz="1200" dirty="0"/>
          </a:p>
        </p:txBody>
      </p:sp>
      <p:sp>
        <p:nvSpPr>
          <p:cNvPr id="18" name="Text 16"/>
          <p:cNvSpPr txBox="1"/>
          <p:nvPr/>
        </p:nvSpPr>
        <p:spPr>
          <a:xfrm>
            <a:off x="457200" y="2560320"/>
            <a:ext cx="8229600" cy="320040"/>
          </a:xfrm>
          <a:prstGeom prst="rect">
            <a:avLst/>
          </a:prstGeom>
          <a:noFill/>
          <a:ln/>
        </p:spPr>
        <p:txBody>
          <a:bodyPr wrap="square" lIns="0" tIns="0" rIns="0" bIns="0" rtlCol="0" anchor="t"/>
          <a:lstStyle/>
          <a:p>
            <a:pPr indent="0" marL="0">
              <a:buNone/>
            </a:pPr>
            <a:r>
              <a:rPr lang="en-US" sz="1600" b="1" dirty="0">
                <a:solidFill>
                  <a:schemeClr val="tx2"/>
                </a:solidFill>
              </a:rPr>
              <a:t>The matcher decides one of three outcomes:</a:t>
            </a:r>
            <a:endParaRPr lang="en-US" sz="1600" dirty="0"/>
          </a:p>
        </p:txBody>
      </p:sp>
      <p:sp>
        <p:nvSpPr>
          <p:cNvPr id="19" name="Outcome 1"/>
          <p:cNvSpPr/>
          <p:nvPr/>
        </p:nvSpPr>
        <p:spPr>
          <a:xfrm>
            <a:off x="457200" y="2971800"/>
            <a:ext cx="2651760" cy="960120"/>
          </a:xfrm>
          <a:prstGeom prst="roundRect">
            <a:avLst>
              <a:gd name="adj" fmla="val 7619"/>
            </a:avLst>
          </a:prstGeom>
          <a:solidFill>
            <a:schemeClr val="accent2"/>
          </a:solidFill>
          <a:ln w="12700">
            <a:solidFill>
              <a:schemeClr val="accent2"/>
            </a:solidFill>
            <a:prstDash val="solid"/>
          </a:ln>
        </p:spPr>
      </p:sp>
      <p:sp>
        <p:nvSpPr>
          <p:cNvPr id="20" name="Text 18"/>
          <p:cNvSpPr txBox="1"/>
          <p:nvPr/>
        </p:nvSpPr>
        <p:spPr>
          <a:xfrm>
            <a:off x="640080" y="3063240"/>
            <a:ext cx="2286000" cy="320040"/>
          </a:xfrm>
          <a:prstGeom prst="rect">
            <a:avLst/>
          </a:prstGeom>
          <a:noFill/>
          <a:ln/>
        </p:spPr>
        <p:txBody>
          <a:bodyPr wrap="square" lIns="0" tIns="0" rIns="0" bIns="0" rtlCol="0" anchor="t"/>
          <a:lstStyle/>
          <a:p>
            <a:pPr indent="0" marL="0">
              <a:buNone/>
            </a:pPr>
            <a:r>
              <a:rPr lang="en-US" sz="1600" b="1" dirty="0">
                <a:solidFill>
                  <a:schemeClr val="bg1"/>
                </a:solidFill>
              </a:rPr>
              <a:t>Confident</a:t>
            </a:r>
            <a:endParaRPr lang="en-US" sz="1600" dirty="0"/>
          </a:p>
        </p:txBody>
      </p:sp>
      <p:sp>
        <p:nvSpPr>
          <p:cNvPr id="21" name="Text 19"/>
          <p:cNvSpPr txBox="1"/>
          <p:nvPr/>
        </p:nvSpPr>
        <p:spPr>
          <a:xfrm>
            <a:off x="640080" y="3401568"/>
            <a:ext cx="2286000" cy="457200"/>
          </a:xfrm>
          <a:prstGeom prst="rect">
            <a:avLst/>
          </a:prstGeom>
          <a:noFill/>
          <a:ln/>
        </p:spPr>
        <p:txBody>
          <a:bodyPr wrap="square" lIns="0" tIns="0" rIns="0" bIns="0" rtlCol="0" anchor="t"/>
          <a:lstStyle/>
          <a:p>
            <a:pPr indent="0" marL="0">
              <a:buNone/>
            </a:pPr>
            <a:r>
              <a:rPr lang="en-US" sz="1400" dirty="0">
                <a:solidFill>
                  <a:schemeClr val="bg1"/>
                </a:solidFill>
              </a:rPr>
              <a:t>Gives the answer</a:t>
            </a:r>
            <a:endParaRPr lang="en-US" sz="1400" dirty="0"/>
          </a:p>
        </p:txBody>
      </p:sp>
      <p:sp>
        <p:nvSpPr>
          <p:cNvPr id="22" name="Outcome 2"/>
          <p:cNvSpPr/>
          <p:nvPr/>
        </p:nvSpPr>
        <p:spPr>
          <a:xfrm>
            <a:off x="3246120" y="2971800"/>
            <a:ext cx="2651760" cy="960120"/>
          </a:xfrm>
          <a:prstGeom prst="roundRect">
            <a:avLst>
              <a:gd name="adj" fmla="val 7619"/>
            </a:avLst>
          </a:prstGeom>
          <a:solidFill>
            <a:schemeClr val="accent1"/>
          </a:solidFill>
          <a:ln w="12700">
            <a:solidFill>
              <a:schemeClr val="accent1"/>
            </a:solidFill>
            <a:prstDash val="solid"/>
          </a:ln>
        </p:spPr>
      </p:sp>
      <p:sp>
        <p:nvSpPr>
          <p:cNvPr id="23" name="Text 21"/>
          <p:cNvSpPr txBox="1"/>
          <p:nvPr/>
        </p:nvSpPr>
        <p:spPr>
          <a:xfrm>
            <a:off x="3429000" y="3063240"/>
            <a:ext cx="2286000" cy="320040"/>
          </a:xfrm>
          <a:prstGeom prst="rect">
            <a:avLst/>
          </a:prstGeom>
          <a:noFill/>
          <a:ln/>
        </p:spPr>
        <p:txBody>
          <a:bodyPr wrap="square" lIns="0" tIns="0" rIns="0" bIns="0" rtlCol="0" anchor="t"/>
          <a:lstStyle/>
          <a:p>
            <a:pPr indent="0" marL="0">
              <a:buNone/>
            </a:pPr>
            <a:r>
              <a:rPr lang="en-US" sz="1600" b="1" dirty="0">
                <a:solidFill>
                  <a:schemeClr val="tx2"/>
                </a:solidFill>
              </a:rPr>
              <a:t>Unsure</a:t>
            </a:r>
            <a:endParaRPr lang="en-US" sz="1600" dirty="0"/>
          </a:p>
        </p:txBody>
      </p:sp>
      <p:sp>
        <p:nvSpPr>
          <p:cNvPr id="24" name="Text 22"/>
          <p:cNvSpPr txBox="1"/>
          <p:nvPr/>
        </p:nvSpPr>
        <p:spPr>
          <a:xfrm>
            <a:off x="3429000" y="3401568"/>
            <a:ext cx="2286000" cy="457200"/>
          </a:xfrm>
          <a:prstGeom prst="rect">
            <a:avLst/>
          </a:prstGeom>
          <a:noFill/>
          <a:ln/>
        </p:spPr>
        <p:txBody>
          <a:bodyPr wrap="square" lIns="0" tIns="0" rIns="0" bIns="0" rtlCol="0" anchor="t"/>
          <a:lstStyle/>
          <a:p>
            <a:pPr indent="0" marL="0">
              <a:buNone/>
            </a:pPr>
            <a:r>
              <a:rPr lang="en-US" sz="1400" dirty="0">
                <a:solidFill>
                  <a:schemeClr val="tx2"/>
                </a:solidFill>
              </a:rPr>
              <a:t>Asks “Did you mean...?” with buttons</a:t>
            </a:r>
            <a:endParaRPr lang="en-US" sz="1400" dirty="0"/>
          </a:p>
        </p:txBody>
      </p:sp>
      <p:sp>
        <p:nvSpPr>
          <p:cNvPr id="25" name="Outcome 3"/>
          <p:cNvSpPr/>
          <p:nvPr/>
        </p:nvSpPr>
        <p:spPr>
          <a:xfrm>
            <a:off x="6035040" y="2971800"/>
            <a:ext cx="2651760" cy="960120"/>
          </a:xfrm>
          <a:prstGeom prst="roundRect">
            <a:avLst>
              <a:gd name="adj" fmla="val 7619"/>
            </a:avLst>
          </a:prstGeom>
          <a:solidFill>
            <a:schemeClr val="accent3"/>
          </a:solidFill>
          <a:ln w="12700">
            <a:solidFill>
              <a:schemeClr val="accent3"/>
            </a:solidFill>
            <a:prstDash val="solid"/>
          </a:ln>
        </p:spPr>
      </p:sp>
      <p:sp>
        <p:nvSpPr>
          <p:cNvPr id="26" name="Text 24"/>
          <p:cNvSpPr txBox="1"/>
          <p:nvPr/>
        </p:nvSpPr>
        <p:spPr>
          <a:xfrm>
            <a:off x="6217920" y="3063240"/>
            <a:ext cx="2286000" cy="320040"/>
          </a:xfrm>
          <a:prstGeom prst="rect">
            <a:avLst/>
          </a:prstGeom>
          <a:noFill/>
          <a:ln/>
        </p:spPr>
        <p:txBody>
          <a:bodyPr wrap="square" lIns="0" tIns="0" rIns="0" bIns="0" rtlCol="0" anchor="t"/>
          <a:lstStyle/>
          <a:p>
            <a:pPr indent="0" marL="0">
              <a:buNone/>
            </a:pPr>
            <a:r>
              <a:rPr lang="en-US" sz="1600" b="1" dirty="0">
                <a:solidFill>
                  <a:schemeClr val="bg1"/>
                </a:solidFill>
              </a:rPr>
              <a:t>No match</a:t>
            </a:r>
            <a:endParaRPr lang="en-US" sz="1600" dirty="0"/>
          </a:p>
        </p:txBody>
      </p:sp>
      <p:sp>
        <p:nvSpPr>
          <p:cNvPr id="27" name="Text 25"/>
          <p:cNvSpPr txBox="1"/>
          <p:nvPr/>
        </p:nvSpPr>
        <p:spPr>
          <a:xfrm>
            <a:off x="6217920" y="3401568"/>
            <a:ext cx="2286000" cy="457200"/>
          </a:xfrm>
          <a:prstGeom prst="rect">
            <a:avLst/>
          </a:prstGeom>
          <a:noFill/>
          <a:ln/>
        </p:spPr>
        <p:txBody>
          <a:bodyPr wrap="square" lIns="0" tIns="0" rIns="0" bIns="0" rtlCol="0" anchor="t"/>
          <a:lstStyle/>
          <a:p>
            <a:pPr indent="0" marL="0">
              <a:buNone/>
            </a:pPr>
            <a:r>
              <a:rPr lang="en-US" sz="1400" dirty="0">
                <a:solidFill>
                  <a:schemeClr val="bg1"/>
                </a:solidFill>
              </a:rPr>
              <a:t>Shows the support phone number</a:t>
            </a:r>
            <a:endParaRPr lang="en-US" sz="1400" dirty="0"/>
          </a:p>
        </p:txBody>
      </p:sp>
      <p:sp>
        <p:nvSpPr>
          <p:cNvPr id="28" name="Text 26"/>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800" b="1" i="1" dirty="0">
                <a:solidFill>
                  <a:schemeClr val="accent2"/>
                </a:solidFill>
                <a:latin typeface="Cambria" pitchFamily="34" charset="0"/>
                <a:ea typeface="Cambria" pitchFamily="34" charset="-122"/>
                <a:cs typeface="Cambria" pitchFamily="34" charset="-120"/>
              </a:rPr>
              <a:t>Code decides. The model only polishes the wording.</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2"/>
                </a:solidFill>
              </a:rPr>
              <a:t>How wrong answers are stopped</a:t>
            </a:r>
            <a:endParaRPr lang="en-US" sz="3400" dirty="0"/>
          </a:p>
        </p:txBody>
      </p:sp>
      <p:sp>
        <p:nvSpPr>
          <p:cNvPr id="3" name="Number 1"/>
          <p:cNvSpPr/>
          <p:nvPr/>
        </p:nvSpPr>
        <p:spPr>
          <a:xfrm>
            <a:off x="457200" y="1353312"/>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457200" y="1353312"/>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5" name="Text 3"/>
          <p:cNvSpPr txBox="1"/>
          <p:nvPr/>
        </p:nvSpPr>
        <p:spPr>
          <a:xfrm>
            <a:off x="1005840" y="1280160"/>
            <a:ext cx="4937760" cy="566928"/>
          </a:xfrm>
          <a:prstGeom prst="rect">
            <a:avLst/>
          </a:prstGeom>
          <a:noFill/>
          <a:ln/>
        </p:spPr>
        <p:txBody>
          <a:bodyPr wrap="square" lIns="0" tIns="0" rIns="0" bIns="0" rtlCol="0" anchor="ctr"/>
          <a:lstStyle/>
          <a:p>
            <a:pPr indent="0" marL="0">
              <a:buNone/>
            </a:pPr>
            <a:r>
              <a:rPr lang="en-US" sz="1400" b="1" dirty="0">
                <a:solidFill>
                  <a:schemeClr val="tx2"/>
                </a:solidFill>
              </a:rPr>
              <a:t>Plain code picks the topic. </a:t>
            </a:r>
            <a:pPr indent="0" marL="0">
              <a:buNone/>
            </a:pPr>
            <a:r>
              <a:rPr lang="en-US" sz="1400" dirty="0">
                <a:solidFill>
                  <a:schemeClr val="tx1"/>
                </a:solidFill>
              </a:rPr>
              <a:t>It compares 50+ phrasings and tolerates typos.</a:t>
            </a:r>
            <a:endParaRPr lang="en-US" sz="1400" dirty="0"/>
          </a:p>
        </p:txBody>
      </p:sp>
      <p:sp>
        <p:nvSpPr>
          <p:cNvPr id="6" name="Number 2"/>
          <p:cNvSpPr/>
          <p:nvPr/>
        </p:nvSpPr>
        <p:spPr>
          <a:xfrm>
            <a:off x="457200" y="2011680"/>
            <a:ext cx="384048" cy="384048"/>
          </a:xfrm>
          <a:prstGeom prst="ellipse">
            <a:avLst/>
          </a:prstGeom>
          <a:solidFill>
            <a:schemeClr val="accent1"/>
          </a:solidFill>
          <a:ln w="12700">
            <a:solidFill>
              <a:schemeClr val="accent1"/>
            </a:solidFill>
            <a:prstDash val="solid"/>
          </a:ln>
        </p:spPr>
      </p:sp>
      <p:sp>
        <p:nvSpPr>
          <p:cNvPr id="7" name="Text 5"/>
          <p:cNvSpPr txBox="1"/>
          <p:nvPr/>
        </p:nvSpPr>
        <p:spPr>
          <a:xfrm>
            <a:off x="457200" y="2011680"/>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8" name="Text 6"/>
          <p:cNvSpPr txBox="1"/>
          <p:nvPr/>
        </p:nvSpPr>
        <p:spPr>
          <a:xfrm>
            <a:off x="1005840" y="1938528"/>
            <a:ext cx="4937760" cy="566928"/>
          </a:xfrm>
          <a:prstGeom prst="rect">
            <a:avLst/>
          </a:prstGeom>
          <a:noFill/>
          <a:ln/>
        </p:spPr>
        <p:txBody>
          <a:bodyPr wrap="square" lIns="0" tIns="0" rIns="0" bIns="0" rtlCol="0" anchor="ctr"/>
          <a:lstStyle/>
          <a:p>
            <a:pPr indent="0" marL="0">
              <a:buNone/>
            </a:pPr>
            <a:r>
              <a:rPr lang="en-US" sz="1400" b="1" dirty="0">
                <a:solidFill>
                  <a:schemeClr val="tx2"/>
                </a:solidFill>
              </a:rPr>
              <a:t>Only three outcomes. </a:t>
            </a:r>
            <a:pPr indent="0" marL="0">
              <a:buNone/>
            </a:pPr>
            <a:r>
              <a:rPr lang="en-US" sz="1400" dirty="0">
                <a:solidFill>
                  <a:schemeClr val="tx1"/>
                </a:solidFill>
              </a:rPr>
              <a:t>Answer, ask “Did you mean...?”, or give the support number.</a:t>
            </a:r>
            <a:endParaRPr lang="en-US" sz="1400" dirty="0"/>
          </a:p>
        </p:txBody>
      </p:sp>
      <p:sp>
        <p:nvSpPr>
          <p:cNvPr id="9" name="Number 3"/>
          <p:cNvSpPr/>
          <p:nvPr/>
        </p:nvSpPr>
        <p:spPr>
          <a:xfrm>
            <a:off x="457200" y="2670048"/>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457200" y="2670048"/>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1" name="Text 9"/>
          <p:cNvSpPr txBox="1"/>
          <p:nvPr/>
        </p:nvSpPr>
        <p:spPr>
          <a:xfrm>
            <a:off x="1005840" y="2596896"/>
            <a:ext cx="4937760" cy="566928"/>
          </a:xfrm>
          <a:prstGeom prst="rect">
            <a:avLst/>
          </a:prstGeom>
          <a:noFill/>
          <a:ln/>
        </p:spPr>
        <p:txBody>
          <a:bodyPr wrap="square" lIns="0" tIns="0" rIns="0" bIns="0" rtlCol="0" anchor="ctr"/>
          <a:lstStyle/>
          <a:p>
            <a:pPr indent="0" marL="0">
              <a:buNone/>
            </a:pPr>
            <a:r>
              <a:rPr lang="en-US" sz="1400" b="1" dirty="0">
                <a:solidFill>
                  <a:schemeClr val="tx2"/>
                </a:solidFill>
              </a:rPr>
              <a:t>Unknown words never get an answer. </a:t>
            </a:r>
            <a:pPr indent="0" marL="0">
              <a:buNone/>
            </a:pPr>
            <a:r>
              <a:rPr lang="en-US" sz="1400" dirty="0">
                <a:solidFill>
                  <a:schemeClr val="tx1"/>
                </a:solidFill>
              </a:rPr>
              <a:t>For example, “price of iPhone” is refused.</a:t>
            </a:r>
            <a:endParaRPr lang="en-US" sz="1400" dirty="0"/>
          </a:p>
        </p:txBody>
      </p:sp>
      <p:sp>
        <p:nvSpPr>
          <p:cNvPr id="12" name="Number 4"/>
          <p:cNvSpPr/>
          <p:nvPr/>
        </p:nvSpPr>
        <p:spPr>
          <a:xfrm>
            <a:off x="457200" y="3328416"/>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457200" y="3328416"/>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4" name="Text 12"/>
          <p:cNvSpPr txBox="1"/>
          <p:nvPr/>
        </p:nvSpPr>
        <p:spPr>
          <a:xfrm>
            <a:off x="1005840" y="3255264"/>
            <a:ext cx="4937760" cy="566928"/>
          </a:xfrm>
          <a:prstGeom prst="rect">
            <a:avLst/>
          </a:prstGeom>
          <a:noFill/>
          <a:ln/>
        </p:spPr>
        <p:txBody>
          <a:bodyPr wrap="square" lIns="0" tIns="0" rIns="0" bIns="0" rtlCol="0" anchor="ctr"/>
          <a:lstStyle/>
          <a:p>
            <a:pPr indent="0" marL="0">
              <a:buNone/>
            </a:pPr>
            <a:r>
              <a:rPr lang="en-US" sz="1400" b="1" dirty="0">
                <a:solidFill>
                  <a:schemeClr val="tx2"/>
                </a:solidFill>
              </a:rPr>
              <a:t>The model never sees the customer’s message. </a:t>
            </a:r>
            <a:pPr indent="0" marL="0">
              <a:buNone/>
            </a:pPr>
            <a:r>
              <a:rPr lang="en-US" sz="1400" dirty="0">
                <a:solidFill>
                  <a:schemeClr val="tx1"/>
                </a:solidFill>
              </a:rPr>
              <a:t>It gets a fixed question and fixed facts, so jailbreaks fail.</a:t>
            </a:r>
            <a:endParaRPr lang="en-US" sz="1400" dirty="0"/>
          </a:p>
        </p:txBody>
      </p:sp>
      <p:sp>
        <p:nvSpPr>
          <p:cNvPr id="15" name="Number 5"/>
          <p:cNvSpPr/>
          <p:nvPr/>
        </p:nvSpPr>
        <p:spPr>
          <a:xfrm>
            <a:off x="457200" y="3986784"/>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457200" y="3986784"/>
            <a:ext cx="384048" cy="384048"/>
          </a:xfrm>
          <a:prstGeom prst="rect">
            <a:avLst/>
          </a:prstGeom>
          <a:noFill/>
          <a:ln/>
        </p:spPr>
        <p:txBody>
          <a:bodyPr wrap="square" lIns="0" tIns="0" rIns="0" bIns="0" rtlCol="0" anchor="ctr"/>
          <a:lstStyle/>
          <a:p>
            <a:pPr algn="ctr" indent="0" marL="0">
              <a:buNone/>
            </a:pPr>
            <a:r>
              <a:rPr lang="en-US" sz="1600" b="1" dirty="0">
                <a:solidFill>
                  <a:schemeClr val="tx2"/>
                </a:solidFill>
              </a:rPr>
              <a:t>5</a:t>
            </a:r>
            <a:endParaRPr lang="en-US" sz="1600" dirty="0"/>
          </a:p>
        </p:txBody>
      </p:sp>
      <p:sp>
        <p:nvSpPr>
          <p:cNvPr id="17" name="Text 15"/>
          <p:cNvSpPr txBox="1"/>
          <p:nvPr/>
        </p:nvSpPr>
        <p:spPr>
          <a:xfrm>
            <a:off x="1005840" y="3913632"/>
            <a:ext cx="4937760" cy="566928"/>
          </a:xfrm>
          <a:prstGeom prst="rect">
            <a:avLst/>
          </a:prstGeom>
          <a:noFill/>
          <a:ln/>
        </p:spPr>
        <p:txBody>
          <a:bodyPr wrap="square" lIns="0" tIns="0" rIns="0" bIns="0" rtlCol="0" anchor="ctr"/>
          <a:lstStyle/>
          <a:p>
            <a:pPr indent="0" marL="0">
              <a:buNone/>
            </a:pPr>
            <a:r>
              <a:rPr lang="en-US" sz="1400" b="1" dirty="0">
                <a:solidFill>
                  <a:schemeClr val="tx2"/>
                </a:solidFill>
              </a:rPr>
              <a:t>Every output is checked. </a:t>
            </a:r>
            <a:pPr indent="0" marL="0">
              <a:buNone/>
            </a:pPr>
            <a:r>
              <a:rPr lang="en-US" sz="1400" dirty="0">
                <a:solidFill>
                  <a:schemeClr val="tx1"/>
                </a:solidFill>
              </a:rPr>
              <a:t>New numbers or missing key words? The written answer is shown instead.</a:t>
            </a:r>
            <a:endParaRPr lang="en-US" sz="1400" dirty="0"/>
          </a:p>
        </p:txBody>
      </p:sp>
      <p:sp>
        <p:nvSpPr>
          <p:cNvPr id="18" name="Design rule card"/>
          <p:cNvSpPr/>
          <p:nvPr/>
        </p:nvSpPr>
        <p:spPr>
          <a:xfrm>
            <a:off x="6263640" y="1280160"/>
            <a:ext cx="2423160" cy="3246120"/>
          </a:xfrm>
          <a:prstGeom prst="roundRect">
            <a:avLst>
              <a:gd name="adj" fmla="val 3019"/>
            </a:avLst>
          </a:prstGeom>
          <a:solidFill>
            <a:schemeClr val="tx2"/>
          </a:solidFill>
          <a:ln w="12700">
            <a:solidFill>
              <a:schemeClr val="tx2"/>
            </a:solidFill>
            <a:prstDash val="solid"/>
          </a:ln>
        </p:spPr>
      </p:sp>
      <p:sp>
        <p:nvSpPr>
          <p:cNvPr id="19" name="Text 17"/>
          <p:cNvSpPr txBox="1"/>
          <p:nvPr/>
        </p:nvSpPr>
        <p:spPr>
          <a:xfrm>
            <a:off x="6492240" y="1508760"/>
            <a:ext cx="2011680" cy="274320"/>
          </a:xfrm>
          <a:prstGeom prst="rect">
            <a:avLst/>
          </a:prstGeom>
          <a:noFill/>
          <a:ln/>
        </p:spPr>
        <p:txBody>
          <a:bodyPr wrap="square" lIns="0" tIns="0" rIns="0" bIns="0" rtlCol="0" anchor="t"/>
          <a:lstStyle/>
          <a:p>
            <a:pPr indent="0" marL="0">
              <a:buNone/>
            </a:pPr>
            <a:r>
              <a:rPr lang="en-US" sz="1200" b="1" dirty="0">
                <a:solidFill>
                  <a:schemeClr val="accent1"/>
                </a:solidFill>
              </a:rPr>
              <a:t>DESIGN RULE</a:t>
            </a:r>
            <a:endParaRPr lang="en-US" sz="1200" dirty="0"/>
          </a:p>
        </p:txBody>
      </p:sp>
      <p:sp>
        <p:nvSpPr>
          <p:cNvPr id="20" name="Text 18"/>
          <p:cNvSpPr txBox="1"/>
          <p:nvPr/>
        </p:nvSpPr>
        <p:spPr>
          <a:xfrm>
            <a:off x="6492240" y="1920240"/>
            <a:ext cx="201168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Code decides.</a:t>
            </a:r>
            <a:endParaRPr lang="en-US" sz="2400" dirty="0"/>
          </a:p>
        </p:txBody>
      </p:sp>
      <p:sp>
        <p:nvSpPr>
          <p:cNvPr id="21" name="Text 19"/>
          <p:cNvSpPr txBox="1"/>
          <p:nvPr/>
        </p:nvSpPr>
        <p:spPr>
          <a:xfrm>
            <a:off x="6492240" y="2423160"/>
            <a:ext cx="2011680" cy="82296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The model only phrases.</a:t>
            </a:r>
            <a:endParaRPr lang="en-US" sz="2400" dirty="0"/>
          </a:p>
        </p:txBody>
      </p:sp>
      <p:sp>
        <p:nvSpPr>
          <p:cNvPr id="22" name="Text 20"/>
          <p:cNvSpPr txBox="1"/>
          <p:nvPr/>
        </p:nvSpPr>
        <p:spPr>
          <a:xfrm>
            <a:off x="6492240" y="3566160"/>
            <a:ext cx="2011680" cy="731520"/>
          </a:xfrm>
          <a:prstGeom prst="rect">
            <a:avLst/>
          </a:prstGeom>
          <a:noFill/>
          <a:ln/>
        </p:spPr>
        <p:txBody>
          <a:bodyPr wrap="square" lIns="0" tIns="0" rIns="0" bIns="0" rtlCol="0" anchor="t"/>
          <a:lstStyle/>
          <a:p>
            <a:pPr indent="0" marL="0">
              <a:buNone/>
            </a:pPr>
            <a:r>
              <a:rPr lang="en-US" sz="1400" dirty="0">
                <a:solidFill>
                  <a:schemeClr val="bg2"/>
                </a:solidFill>
              </a:rPr>
              <a:t>Set USE_LLM=false to always show the written answers.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2"/>
                </a:solidFill>
              </a:rPr>
              <a:t>The knowledge dataset</a:t>
            </a:r>
            <a:endParaRPr lang="en-US" sz="3400" dirty="0"/>
          </a:p>
        </p:txBody>
      </p:sp>
      <p:sp>
        <p:nvSpPr>
          <p:cNvPr id="3" name="Stat card"/>
          <p:cNvSpPr/>
          <p:nvPr/>
        </p:nvSpPr>
        <p:spPr>
          <a:xfrm>
            <a:off x="457200" y="1280160"/>
            <a:ext cx="2743200" cy="3246120"/>
          </a:xfrm>
          <a:prstGeom prst="roundRect">
            <a:avLst>
              <a:gd name="adj" fmla="val 2667"/>
            </a:avLst>
          </a:prstGeom>
          <a:solidFill>
            <a:schemeClr val="tx2"/>
          </a:solidFill>
          <a:ln w="12700">
            <a:solidFill>
              <a:schemeClr val="tx2"/>
            </a:solidFill>
            <a:prstDash val="solid"/>
          </a:ln>
        </p:spPr>
      </p:sp>
      <p:sp>
        <p:nvSpPr>
          <p:cNvPr id="4" name="Text 2"/>
          <p:cNvSpPr txBox="1"/>
          <p:nvPr/>
        </p:nvSpPr>
        <p:spPr>
          <a:xfrm>
            <a:off x="457200" y="1600200"/>
            <a:ext cx="2743200" cy="1188720"/>
          </a:xfrm>
          <a:prstGeom prst="rect">
            <a:avLst/>
          </a:prstGeom>
          <a:noFill/>
          <a:ln/>
        </p:spPr>
        <p:txBody>
          <a:bodyPr wrap="square" lIns="0" tIns="0" rIns="0" bIns="0" rtlCol="0" anchor="t"/>
          <a:lstStyle/>
          <a:p>
            <a:pPr algn="ctr" indent="0" marL="0">
              <a:buNone/>
            </a:pPr>
            <a:r>
              <a:rPr lang="en-US" sz="7200" b="1" dirty="0">
                <a:solidFill>
                  <a:schemeClr val="accent1"/>
                </a:solidFill>
                <a:latin typeface="Cambria" pitchFamily="34" charset="0"/>
                <a:ea typeface="Cambria" pitchFamily="34" charset="-122"/>
                <a:cs typeface="Cambria" pitchFamily="34" charset="-120"/>
              </a:rPr>
              <a:t>50+</a:t>
            </a:r>
            <a:endParaRPr lang="en-US" sz="7200" dirty="0"/>
          </a:p>
        </p:txBody>
      </p:sp>
      <p:sp>
        <p:nvSpPr>
          <p:cNvPr id="5" name="Text 3"/>
          <p:cNvSpPr txBox="1"/>
          <p:nvPr/>
        </p:nvSpPr>
        <p:spPr>
          <a:xfrm>
            <a:off x="685800" y="2926080"/>
            <a:ext cx="2286000" cy="1371600"/>
          </a:xfrm>
          <a:prstGeom prst="rect">
            <a:avLst/>
          </a:prstGeom>
          <a:noFill/>
          <a:ln/>
        </p:spPr>
        <p:txBody>
          <a:bodyPr wrap="square" lIns="0" tIns="0" rIns="0" bIns="0" rtlCol="0" anchor="t"/>
          <a:lstStyle/>
          <a:p>
            <a:pPr algn="ctr" indent="0" marL="0">
              <a:buNone/>
            </a:pPr>
            <a:r>
              <a:rPr lang="en-US" sz="1400" dirty="0">
                <a:solidFill>
                  <a:schemeClr val="bg1"/>
                </a:solidFill>
              </a:rPr>
              <a:t>phrasings for every question. The build script stops if any question has fewer.</a:t>
            </a:r>
            <a:endParaRPr lang="en-US" sz="1400" dirty="0"/>
          </a:p>
        </p:txBody>
      </p:sp>
      <p:sp>
        <p:nvSpPr>
          <p:cNvPr id="6" name="Text 4"/>
          <p:cNvSpPr txBox="1"/>
          <p:nvPr/>
        </p:nvSpPr>
        <p:spPr>
          <a:xfrm>
            <a:off x="3474720" y="1280160"/>
            <a:ext cx="5212080" cy="320040"/>
          </a:xfrm>
          <a:prstGeom prst="rect">
            <a:avLst/>
          </a:prstGeom>
          <a:noFill/>
          <a:ln/>
        </p:spPr>
        <p:txBody>
          <a:bodyPr wrap="square" lIns="0" tIns="0" rIns="0" bIns="0" rtlCol="0" anchor="t"/>
          <a:lstStyle/>
          <a:p>
            <a:pPr indent="0" marL="0">
              <a:buNone/>
            </a:pPr>
            <a:r>
              <a:rPr lang="en-US" sz="1600" b="1" dirty="0">
                <a:solidFill>
                  <a:schemeClr val="tx2"/>
                </a:solidFill>
              </a:rPr>
              <a:t>Topics the bot knows</a:t>
            </a:r>
            <a:endParaRPr lang="en-US" sz="1600" dirty="0"/>
          </a:p>
        </p:txBody>
      </p:sp>
      <p:sp>
        <p:nvSpPr>
          <p:cNvPr id="7" name="Topic 1"/>
          <p:cNvSpPr/>
          <p:nvPr/>
        </p:nvSpPr>
        <p:spPr>
          <a:xfrm>
            <a:off x="3474720" y="1737360"/>
            <a:ext cx="2560320" cy="347472"/>
          </a:xfrm>
          <a:prstGeom prst="roundRect">
            <a:avLst>
              <a:gd name="adj" fmla="val 21053"/>
            </a:avLst>
          </a:prstGeom>
          <a:solidFill>
            <a:schemeClr val="bg2"/>
          </a:solidFill>
          <a:ln w="12700">
            <a:solidFill>
              <a:schemeClr val="bg2"/>
            </a:solidFill>
            <a:prstDash val="solid"/>
          </a:ln>
        </p:spPr>
      </p:sp>
      <p:sp>
        <p:nvSpPr>
          <p:cNvPr id="8" name="Text 6"/>
          <p:cNvSpPr txBox="1"/>
          <p:nvPr/>
        </p:nvSpPr>
        <p:spPr>
          <a:xfrm>
            <a:off x="3611880" y="1737360"/>
            <a:ext cx="2286000" cy="347472"/>
          </a:xfrm>
          <a:prstGeom prst="rect">
            <a:avLst/>
          </a:prstGeom>
          <a:noFill/>
          <a:ln/>
        </p:spPr>
        <p:txBody>
          <a:bodyPr wrap="square" lIns="0" tIns="0" rIns="0" bIns="0" rtlCol="0" anchor="ctr"/>
          <a:lstStyle/>
          <a:p>
            <a:pPr indent="0" marL="0">
              <a:buNone/>
            </a:pPr>
            <a:r>
              <a:rPr lang="en-US" sz="1400" dirty="0">
                <a:solidFill>
                  <a:schemeClr val="tx1"/>
                </a:solidFill>
              </a:rPr>
              <a:t>What AI Scooty is</a:t>
            </a:r>
            <a:endParaRPr lang="en-US" sz="1400" dirty="0"/>
          </a:p>
        </p:txBody>
      </p:sp>
      <p:sp>
        <p:nvSpPr>
          <p:cNvPr id="9" name="Topic 2"/>
          <p:cNvSpPr/>
          <p:nvPr/>
        </p:nvSpPr>
        <p:spPr>
          <a:xfrm>
            <a:off x="6126480" y="1737360"/>
            <a:ext cx="2560320" cy="347472"/>
          </a:xfrm>
          <a:prstGeom prst="roundRect">
            <a:avLst>
              <a:gd name="adj" fmla="val 21053"/>
            </a:avLst>
          </a:prstGeom>
          <a:solidFill>
            <a:schemeClr val="bg2"/>
          </a:solidFill>
          <a:ln w="12700">
            <a:solidFill>
              <a:schemeClr val="bg2"/>
            </a:solidFill>
            <a:prstDash val="solid"/>
          </a:ln>
        </p:spPr>
      </p:sp>
      <p:sp>
        <p:nvSpPr>
          <p:cNvPr id="10" name="Text 8"/>
          <p:cNvSpPr txBox="1"/>
          <p:nvPr/>
        </p:nvSpPr>
        <p:spPr>
          <a:xfrm>
            <a:off x="6263640" y="1737360"/>
            <a:ext cx="2286000" cy="347472"/>
          </a:xfrm>
          <a:prstGeom prst="rect">
            <a:avLst/>
          </a:prstGeom>
          <a:noFill/>
          <a:ln/>
        </p:spPr>
        <p:txBody>
          <a:bodyPr wrap="square" lIns="0" tIns="0" rIns="0" bIns="0" rtlCol="0" anchor="ctr"/>
          <a:lstStyle/>
          <a:p>
            <a:pPr indent="0" marL="0">
              <a:buNone/>
            </a:pPr>
            <a:r>
              <a:rPr lang="en-US" sz="1400" dirty="0">
                <a:solidFill>
                  <a:schemeClr val="tx1"/>
                </a:solidFill>
              </a:rPr>
              <a:t>Founder</a:t>
            </a:r>
            <a:endParaRPr lang="en-US" sz="1400" dirty="0"/>
          </a:p>
        </p:txBody>
      </p:sp>
      <p:sp>
        <p:nvSpPr>
          <p:cNvPr id="11" name="Topic 3"/>
          <p:cNvSpPr/>
          <p:nvPr/>
        </p:nvSpPr>
        <p:spPr>
          <a:xfrm>
            <a:off x="3474720" y="2148840"/>
            <a:ext cx="2560320" cy="347472"/>
          </a:xfrm>
          <a:prstGeom prst="roundRect">
            <a:avLst>
              <a:gd name="adj" fmla="val 21053"/>
            </a:avLst>
          </a:prstGeom>
          <a:solidFill>
            <a:schemeClr val="bg2"/>
          </a:solidFill>
          <a:ln w="12700">
            <a:solidFill>
              <a:schemeClr val="bg2"/>
            </a:solidFill>
            <a:prstDash val="solid"/>
          </a:ln>
        </p:spPr>
      </p:sp>
      <p:sp>
        <p:nvSpPr>
          <p:cNvPr id="12" name="Text 10"/>
          <p:cNvSpPr txBox="1"/>
          <p:nvPr/>
        </p:nvSpPr>
        <p:spPr>
          <a:xfrm>
            <a:off x="3611880" y="2148840"/>
            <a:ext cx="2286000" cy="347472"/>
          </a:xfrm>
          <a:prstGeom prst="rect">
            <a:avLst/>
          </a:prstGeom>
          <a:noFill/>
          <a:ln/>
        </p:spPr>
        <p:txBody>
          <a:bodyPr wrap="square" lIns="0" tIns="0" rIns="0" bIns="0" rtlCol="0" anchor="ctr"/>
          <a:lstStyle/>
          <a:p>
            <a:pPr indent="0" marL="0">
              <a:buNone/>
            </a:pPr>
            <a:r>
              <a:rPr lang="en-US" sz="1400" dirty="0">
                <a:solidFill>
                  <a:schemeClr val="tx1"/>
                </a:solidFill>
              </a:rPr>
              <a:t>Works without sun</a:t>
            </a:r>
            <a:endParaRPr lang="en-US" sz="1400" dirty="0"/>
          </a:p>
        </p:txBody>
      </p:sp>
      <p:sp>
        <p:nvSpPr>
          <p:cNvPr id="13" name="Topic 4"/>
          <p:cNvSpPr/>
          <p:nvPr/>
        </p:nvSpPr>
        <p:spPr>
          <a:xfrm>
            <a:off x="6126480" y="2148840"/>
            <a:ext cx="2560320" cy="347472"/>
          </a:xfrm>
          <a:prstGeom prst="roundRect">
            <a:avLst>
              <a:gd name="adj" fmla="val 21053"/>
            </a:avLst>
          </a:prstGeom>
          <a:solidFill>
            <a:schemeClr val="bg2"/>
          </a:solidFill>
          <a:ln w="12700">
            <a:solidFill>
              <a:schemeClr val="bg2"/>
            </a:solidFill>
            <a:prstDash val="solid"/>
          </a:ln>
        </p:spPr>
      </p:sp>
      <p:sp>
        <p:nvSpPr>
          <p:cNvPr id="14" name="Text 12"/>
          <p:cNvSpPr txBox="1"/>
          <p:nvPr/>
        </p:nvSpPr>
        <p:spPr>
          <a:xfrm>
            <a:off x="6263640" y="2148840"/>
            <a:ext cx="2286000" cy="347472"/>
          </a:xfrm>
          <a:prstGeom prst="rect">
            <a:avLst/>
          </a:prstGeom>
          <a:noFill/>
          <a:ln/>
        </p:spPr>
        <p:txBody>
          <a:bodyPr wrap="square" lIns="0" tIns="0" rIns="0" bIns="0" rtlCol="0" anchor="ctr"/>
          <a:lstStyle/>
          <a:p>
            <a:pPr indent="0" marL="0">
              <a:buNone/>
            </a:pPr>
            <a:r>
              <a:rPr lang="en-US" sz="1400" dirty="0">
                <a:solidFill>
                  <a:schemeClr val="tx1"/>
                </a:solidFill>
              </a:rPr>
              <a:t>Charging in bad weather</a:t>
            </a:r>
            <a:endParaRPr lang="en-US" sz="1400" dirty="0"/>
          </a:p>
        </p:txBody>
      </p:sp>
      <p:sp>
        <p:nvSpPr>
          <p:cNvPr id="15" name="Topic 5"/>
          <p:cNvSpPr/>
          <p:nvPr/>
        </p:nvSpPr>
        <p:spPr>
          <a:xfrm>
            <a:off x="3474720" y="2560320"/>
            <a:ext cx="2560320" cy="347472"/>
          </a:xfrm>
          <a:prstGeom prst="roundRect">
            <a:avLst>
              <a:gd name="adj" fmla="val 21053"/>
            </a:avLst>
          </a:prstGeom>
          <a:solidFill>
            <a:schemeClr val="bg2"/>
          </a:solidFill>
          <a:ln w="12700">
            <a:solidFill>
              <a:schemeClr val="bg2"/>
            </a:solidFill>
            <a:prstDash val="solid"/>
          </a:ln>
        </p:spPr>
      </p:sp>
      <p:sp>
        <p:nvSpPr>
          <p:cNvPr id="16" name="Text 14"/>
          <p:cNvSpPr txBox="1"/>
          <p:nvPr/>
        </p:nvSpPr>
        <p:spPr>
          <a:xfrm>
            <a:off x="3611880" y="2560320"/>
            <a:ext cx="2286000" cy="347472"/>
          </a:xfrm>
          <a:prstGeom prst="rect">
            <a:avLst/>
          </a:prstGeom>
          <a:noFill/>
          <a:ln/>
        </p:spPr>
        <p:txBody>
          <a:bodyPr wrap="square" lIns="0" tIns="0" rIns="0" bIns="0" rtlCol="0" anchor="ctr"/>
          <a:lstStyle/>
          <a:p>
            <a:pPr indent="0" marL="0">
              <a:buNone/>
            </a:pPr>
            <a:r>
              <a:rPr lang="en-US" sz="1400" dirty="0">
                <a:solidFill>
                  <a:schemeClr val="tx1"/>
                </a:solidFill>
              </a:rPr>
              <a:t>Charge sharing</a:t>
            </a:r>
            <a:endParaRPr lang="en-US" sz="1400" dirty="0"/>
          </a:p>
        </p:txBody>
      </p:sp>
      <p:sp>
        <p:nvSpPr>
          <p:cNvPr id="17" name="Topic 6"/>
          <p:cNvSpPr/>
          <p:nvPr/>
        </p:nvSpPr>
        <p:spPr>
          <a:xfrm>
            <a:off x="6126480" y="2560320"/>
            <a:ext cx="2560320" cy="347472"/>
          </a:xfrm>
          <a:prstGeom prst="roundRect">
            <a:avLst>
              <a:gd name="adj" fmla="val 21053"/>
            </a:avLst>
          </a:prstGeom>
          <a:solidFill>
            <a:schemeClr val="bg2"/>
          </a:solidFill>
          <a:ln w="12700">
            <a:solidFill>
              <a:schemeClr val="bg2"/>
            </a:solidFill>
            <a:prstDash val="solid"/>
          </a:ln>
        </p:spPr>
      </p:sp>
      <p:sp>
        <p:nvSpPr>
          <p:cNvPr id="18" name="Text 16"/>
          <p:cNvSpPr txBox="1"/>
          <p:nvPr/>
        </p:nvSpPr>
        <p:spPr>
          <a:xfrm>
            <a:off x="6263640" y="2560320"/>
            <a:ext cx="2286000" cy="347472"/>
          </a:xfrm>
          <a:prstGeom prst="rect">
            <a:avLst/>
          </a:prstGeom>
          <a:noFill/>
          <a:ln/>
        </p:spPr>
        <p:txBody>
          <a:bodyPr wrap="square" lIns="0" tIns="0" rIns="0" bIns="0" rtlCol="0" anchor="ctr"/>
          <a:lstStyle/>
          <a:p>
            <a:pPr indent="0" marL="0">
              <a:buNone/>
            </a:pPr>
            <a:r>
              <a:rPr lang="en-US" sz="1400" dirty="0">
                <a:solidFill>
                  <a:schemeClr val="tx1"/>
                </a:solidFill>
              </a:rPr>
              <a:t>Running in rain</a:t>
            </a:r>
            <a:endParaRPr lang="en-US" sz="1400" dirty="0"/>
          </a:p>
        </p:txBody>
      </p:sp>
      <p:sp>
        <p:nvSpPr>
          <p:cNvPr id="19" name="Topic 7"/>
          <p:cNvSpPr/>
          <p:nvPr/>
        </p:nvSpPr>
        <p:spPr>
          <a:xfrm>
            <a:off x="3474720" y="2971800"/>
            <a:ext cx="2560320" cy="347472"/>
          </a:xfrm>
          <a:prstGeom prst="roundRect">
            <a:avLst>
              <a:gd name="adj" fmla="val 21053"/>
            </a:avLst>
          </a:prstGeom>
          <a:solidFill>
            <a:schemeClr val="bg2"/>
          </a:solidFill>
          <a:ln w="12700">
            <a:solidFill>
              <a:schemeClr val="bg2"/>
            </a:solidFill>
            <a:prstDash val="solid"/>
          </a:ln>
        </p:spPr>
      </p:sp>
      <p:sp>
        <p:nvSpPr>
          <p:cNvPr id="20" name="Text 18"/>
          <p:cNvSpPr txBox="1"/>
          <p:nvPr/>
        </p:nvSpPr>
        <p:spPr>
          <a:xfrm>
            <a:off x="3611880" y="2971800"/>
            <a:ext cx="2286000" cy="347472"/>
          </a:xfrm>
          <a:prstGeom prst="rect">
            <a:avLst/>
          </a:prstGeom>
          <a:noFill/>
          <a:ln/>
        </p:spPr>
        <p:txBody>
          <a:bodyPr wrap="square" lIns="0" tIns="0" rIns="0" bIns="0" rtlCol="0" anchor="ctr"/>
          <a:lstStyle/>
          <a:p>
            <a:pPr indent="0" marL="0">
              <a:buNone/>
            </a:pPr>
            <a:r>
              <a:rPr lang="en-US" sz="1400" dirty="0">
                <a:solidFill>
                  <a:schemeClr val="tx1"/>
                </a:solidFill>
              </a:rPr>
              <a:t>Price and how to buy</a:t>
            </a:r>
            <a:endParaRPr lang="en-US" sz="1400" dirty="0"/>
          </a:p>
        </p:txBody>
      </p:sp>
      <p:sp>
        <p:nvSpPr>
          <p:cNvPr id="21" name="Topic 8"/>
          <p:cNvSpPr/>
          <p:nvPr/>
        </p:nvSpPr>
        <p:spPr>
          <a:xfrm>
            <a:off x="6126480" y="2971800"/>
            <a:ext cx="2560320" cy="347472"/>
          </a:xfrm>
          <a:prstGeom prst="roundRect">
            <a:avLst>
              <a:gd name="adj" fmla="val 21053"/>
            </a:avLst>
          </a:prstGeom>
          <a:solidFill>
            <a:schemeClr val="bg2"/>
          </a:solidFill>
          <a:ln w="12700">
            <a:solidFill>
              <a:schemeClr val="bg2"/>
            </a:solidFill>
            <a:prstDash val="solid"/>
          </a:ln>
        </p:spPr>
      </p:sp>
      <p:sp>
        <p:nvSpPr>
          <p:cNvPr id="22" name="Text 20"/>
          <p:cNvSpPr txBox="1"/>
          <p:nvPr/>
        </p:nvSpPr>
        <p:spPr>
          <a:xfrm>
            <a:off x="6263640" y="2971800"/>
            <a:ext cx="2286000" cy="347472"/>
          </a:xfrm>
          <a:prstGeom prst="rect">
            <a:avLst/>
          </a:prstGeom>
          <a:noFill/>
          <a:ln/>
        </p:spPr>
        <p:txBody>
          <a:bodyPr wrap="square" lIns="0" tIns="0" rIns="0" bIns="0" rtlCol="0" anchor="ctr"/>
          <a:lstStyle/>
          <a:p>
            <a:pPr indent="0" marL="0">
              <a:buNone/>
            </a:pPr>
            <a:r>
              <a:rPr lang="en-US" sz="1400" dirty="0">
                <a:solidFill>
                  <a:schemeClr val="tx1"/>
                </a:solidFill>
              </a:rPr>
              <a:t>Bank draft</a:t>
            </a:r>
            <a:endParaRPr lang="en-US" sz="1400" dirty="0"/>
          </a:p>
        </p:txBody>
      </p:sp>
      <p:sp>
        <p:nvSpPr>
          <p:cNvPr id="23" name="Topic 9"/>
          <p:cNvSpPr/>
          <p:nvPr/>
        </p:nvSpPr>
        <p:spPr>
          <a:xfrm>
            <a:off x="3474720" y="3383280"/>
            <a:ext cx="2560320" cy="347472"/>
          </a:xfrm>
          <a:prstGeom prst="roundRect">
            <a:avLst>
              <a:gd name="adj" fmla="val 21053"/>
            </a:avLst>
          </a:prstGeom>
          <a:solidFill>
            <a:schemeClr val="bg2"/>
          </a:solidFill>
          <a:ln w="12700">
            <a:solidFill>
              <a:schemeClr val="bg2"/>
            </a:solidFill>
            <a:prstDash val="solid"/>
          </a:ln>
        </p:spPr>
      </p:sp>
      <p:sp>
        <p:nvSpPr>
          <p:cNvPr id="24" name="Text 22"/>
          <p:cNvSpPr txBox="1"/>
          <p:nvPr/>
        </p:nvSpPr>
        <p:spPr>
          <a:xfrm>
            <a:off x="3611880" y="3383280"/>
            <a:ext cx="2286000" cy="347472"/>
          </a:xfrm>
          <a:prstGeom prst="rect">
            <a:avLst/>
          </a:prstGeom>
          <a:noFill/>
          <a:ln/>
        </p:spPr>
        <p:txBody>
          <a:bodyPr wrap="square" lIns="0" tIns="0" rIns="0" bIns="0" rtlCol="0" anchor="ctr"/>
          <a:lstStyle/>
          <a:p>
            <a:pPr indent="0" marL="0">
              <a:buNone/>
            </a:pPr>
            <a:r>
              <a:rPr lang="en-US" sz="1400" dirty="0">
                <a:solidFill>
                  <a:schemeClr val="tx1"/>
                </a:solidFill>
              </a:rPr>
              <a:t>Dhaka City</a:t>
            </a:r>
            <a:endParaRPr lang="en-US" sz="1400" dirty="0"/>
          </a:p>
        </p:txBody>
      </p:sp>
      <p:sp>
        <p:nvSpPr>
          <p:cNvPr id="25" name="Topic 10"/>
          <p:cNvSpPr/>
          <p:nvPr/>
        </p:nvSpPr>
        <p:spPr>
          <a:xfrm>
            <a:off x="6126480" y="3383280"/>
            <a:ext cx="2560320" cy="347472"/>
          </a:xfrm>
          <a:prstGeom prst="roundRect">
            <a:avLst>
              <a:gd name="adj" fmla="val 21053"/>
            </a:avLst>
          </a:prstGeom>
          <a:solidFill>
            <a:schemeClr val="bg2"/>
          </a:solidFill>
          <a:ln w="12700">
            <a:solidFill>
              <a:schemeClr val="bg2"/>
            </a:solidFill>
            <a:prstDash val="solid"/>
          </a:ln>
        </p:spPr>
      </p:sp>
      <p:sp>
        <p:nvSpPr>
          <p:cNvPr id="26" name="Text 24"/>
          <p:cNvSpPr txBox="1"/>
          <p:nvPr/>
        </p:nvSpPr>
        <p:spPr>
          <a:xfrm>
            <a:off x="6263640" y="3383280"/>
            <a:ext cx="2286000" cy="347472"/>
          </a:xfrm>
          <a:prstGeom prst="rect">
            <a:avLst/>
          </a:prstGeom>
          <a:noFill/>
          <a:ln/>
        </p:spPr>
        <p:txBody>
          <a:bodyPr wrap="square" lIns="0" tIns="0" rIns="0" bIns="0" rtlCol="0" anchor="ctr"/>
          <a:lstStyle/>
          <a:p>
            <a:pPr indent="0" marL="0">
              <a:buNone/>
            </a:pPr>
            <a:r>
              <a:rPr lang="en-US" sz="1400" dirty="0">
                <a:solidFill>
                  <a:schemeClr val="tx1"/>
                </a:solidFill>
              </a:rPr>
              <a:t>Trade licence</a:t>
            </a:r>
            <a:endParaRPr lang="en-US" sz="1400" dirty="0"/>
          </a:p>
        </p:txBody>
      </p:sp>
      <p:sp>
        <p:nvSpPr>
          <p:cNvPr id="27" name="Topic 11"/>
          <p:cNvSpPr/>
          <p:nvPr/>
        </p:nvSpPr>
        <p:spPr>
          <a:xfrm>
            <a:off x="3474720" y="3794760"/>
            <a:ext cx="2560320" cy="347472"/>
          </a:xfrm>
          <a:prstGeom prst="roundRect">
            <a:avLst>
              <a:gd name="adj" fmla="val 21053"/>
            </a:avLst>
          </a:prstGeom>
          <a:solidFill>
            <a:schemeClr val="bg2"/>
          </a:solidFill>
          <a:ln w="12700">
            <a:solidFill>
              <a:schemeClr val="bg2"/>
            </a:solidFill>
            <a:prstDash val="solid"/>
          </a:ln>
        </p:spPr>
      </p:sp>
      <p:sp>
        <p:nvSpPr>
          <p:cNvPr id="28" name="Text 26"/>
          <p:cNvSpPr txBox="1"/>
          <p:nvPr/>
        </p:nvSpPr>
        <p:spPr>
          <a:xfrm>
            <a:off x="3611880" y="3794760"/>
            <a:ext cx="2286000" cy="347472"/>
          </a:xfrm>
          <a:prstGeom prst="rect">
            <a:avLst/>
          </a:prstGeom>
          <a:noFill/>
          <a:ln/>
        </p:spPr>
        <p:txBody>
          <a:bodyPr wrap="square" lIns="0" tIns="0" rIns="0" bIns="0" rtlCol="0" anchor="ctr"/>
          <a:lstStyle/>
          <a:p>
            <a:pPr indent="0" marL="0">
              <a:buNone/>
            </a:pPr>
            <a:r>
              <a:rPr lang="en-US" sz="1400" dirty="0">
                <a:solidFill>
                  <a:schemeClr val="tx1"/>
                </a:solidFill>
              </a:rPr>
              <a:t>NID and other papers</a:t>
            </a:r>
            <a:endParaRPr lang="en-US" sz="1400" dirty="0"/>
          </a:p>
        </p:txBody>
      </p:sp>
      <p:sp>
        <p:nvSpPr>
          <p:cNvPr id="29" name="Topic 12"/>
          <p:cNvSpPr/>
          <p:nvPr/>
        </p:nvSpPr>
        <p:spPr>
          <a:xfrm>
            <a:off x="6126480" y="3794760"/>
            <a:ext cx="2560320" cy="347472"/>
          </a:xfrm>
          <a:prstGeom prst="roundRect">
            <a:avLst>
              <a:gd name="adj" fmla="val 21053"/>
            </a:avLst>
          </a:prstGeom>
          <a:solidFill>
            <a:schemeClr val="bg2"/>
          </a:solidFill>
          <a:ln w="12700">
            <a:solidFill>
              <a:schemeClr val="bg2"/>
            </a:solidFill>
            <a:prstDash val="solid"/>
          </a:ln>
        </p:spPr>
      </p:sp>
      <p:sp>
        <p:nvSpPr>
          <p:cNvPr id="30" name="Text 28"/>
          <p:cNvSpPr txBox="1"/>
          <p:nvPr/>
        </p:nvSpPr>
        <p:spPr>
          <a:xfrm>
            <a:off x="6263640" y="3794760"/>
            <a:ext cx="2286000" cy="347472"/>
          </a:xfrm>
          <a:prstGeom prst="rect">
            <a:avLst/>
          </a:prstGeom>
          <a:noFill/>
          <a:ln/>
        </p:spPr>
        <p:txBody>
          <a:bodyPr wrap="square" lIns="0" tIns="0" rIns="0" bIns="0" rtlCol="0" anchor="ctr"/>
          <a:lstStyle/>
          <a:p>
            <a:pPr indent="0" marL="0">
              <a:buNone/>
            </a:pPr>
            <a:r>
              <a:rPr lang="en-US" sz="1400" dirty="0">
                <a:solidFill>
                  <a:schemeClr val="tx1"/>
                </a:solidFill>
              </a:rPr>
              <a:t>Support, the bot, greetings</a:t>
            </a:r>
            <a:endParaRPr lang="en-US" sz="1400" dirty="0"/>
          </a:p>
        </p:txBody>
      </p:sp>
      <p:sp>
        <p:nvSpPr>
          <p:cNvPr id="31" name="Text 29"/>
          <p:cNvSpPr txBox="1"/>
          <p:nvPr/>
        </p:nvSpPr>
        <p:spPr>
          <a:xfrm>
            <a:off x="3474720" y="4251960"/>
            <a:ext cx="5212080" cy="320040"/>
          </a:xfrm>
          <a:prstGeom prst="rect">
            <a:avLst/>
          </a:prstGeom>
          <a:noFill/>
          <a:ln/>
        </p:spPr>
        <p:txBody>
          <a:bodyPr wrap="square" lIns="0" tIns="0" rIns="0" bIns="0" rtlCol="0" anchor="t"/>
          <a:lstStyle/>
          <a:p>
            <a:pPr indent="0" marL="0">
              <a:buNone/>
            </a:pPr>
            <a:r>
              <a:rPr lang="en-US" sz="1400" b="1" dirty="0">
                <a:solidFill>
                  <a:schemeClr val="accent2"/>
                </a:solidFill>
              </a:rPr>
              <a:t>Edit tools/build_dataset.py, run it, and data/knowledge.json is rebuilt.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2"/>
                </a:solidFill>
              </a:rPr>
              <a:t>Tech stack and settings</a:t>
            </a:r>
            <a:endParaRPr lang="en-US" sz="3400" dirty="0"/>
          </a:p>
        </p:txBody>
      </p:sp>
      <p:sp>
        <p:nvSpPr>
          <p:cNvPr id="3" name="Python 3.13 circle"/>
          <p:cNvSpPr/>
          <p:nvPr/>
        </p:nvSpPr>
        <p:spPr>
          <a:xfrm>
            <a:off x="457200" y="1280160"/>
            <a:ext cx="502920" cy="502920"/>
          </a:xfrm>
          <a:prstGeom prst="ellipse">
            <a:avLst/>
          </a:prstGeom>
          <a:solidFill>
            <a:schemeClr val="accent2"/>
          </a:solidFill>
          <a:ln w="12700">
            <a:solidFill>
              <a:schemeClr val="accent2"/>
            </a:solidFill>
            <a:prstDash val="solid"/>
          </a:ln>
        </p:spPr>
      </p:sp>
      <p:pic>
        <p:nvPicPr>
          <p:cNvPr id="4" name="Python 3.13 icon" descr="Python 3.13">    </p:cNvPr>
          <p:cNvPicPr>
            <a:picLocks noChangeAspect="1"/>
          </p:cNvPicPr>
          <p:nvPr/>
        </p:nvPicPr>
        <p:blipFill>
          <a:blip r:embed="rId1"/>
          <a:stretch>
            <a:fillRect/>
          </a:stretch>
        </p:blipFill>
        <p:spPr>
          <a:xfrm>
            <a:off x="582930" y="1405890"/>
            <a:ext cx="251460" cy="251460"/>
          </a:xfrm>
          <a:prstGeom prst="rect">
            <a:avLst/>
          </a:prstGeom>
        </p:spPr>
      </p:pic>
      <p:sp>
        <p:nvSpPr>
          <p:cNvPr id="5" name="Text 2"/>
          <p:cNvSpPr txBox="1"/>
          <p:nvPr/>
        </p:nvSpPr>
        <p:spPr>
          <a:xfrm>
            <a:off x="1143000" y="1261872"/>
            <a:ext cx="3840480" cy="274320"/>
          </a:xfrm>
          <a:prstGeom prst="rect">
            <a:avLst/>
          </a:prstGeom>
          <a:noFill/>
          <a:ln/>
        </p:spPr>
        <p:txBody>
          <a:bodyPr wrap="square" lIns="0" tIns="0" rIns="0" bIns="0" rtlCol="0" anchor="t"/>
          <a:lstStyle/>
          <a:p>
            <a:pPr indent="0" marL="0">
              <a:buNone/>
            </a:pPr>
            <a:r>
              <a:rPr lang="en-US" sz="1600" b="1" dirty="0">
                <a:solidFill>
                  <a:schemeClr val="tx2"/>
                </a:solidFill>
              </a:rPr>
              <a:t>Python 3.13</a:t>
            </a:r>
            <a:endParaRPr lang="en-US" sz="1600" dirty="0"/>
          </a:p>
        </p:txBody>
      </p:sp>
      <p:sp>
        <p:nvSpPr>
          <p:cNvPr id="6" name="Text 3"/>
          <p:cNvSpPr txBox="1"/>
          <p:nvPr/>
        </p:nvSpPr>
        <p:spPr>
          <a:xfrm>
            <a:off x="1143000" y="1536192"/>
            <a:ext cx="3840480" cy="274320"/>
          </a:xfrm>
          <a:prstGeom prst="rect">
            <a:avLst/>
          </a:prstGeom>
          <a:noFill/>
          <a:ln/>
        </p:spPr>
        <p:txBody>
          <a:bodyPr wrap="square" lIns="0" tIns="0" rIns="0" bIns="0" rtlCol="0" anchor="t"/>
          <a:lstStyle/>
          <a:p>
            <a:pPr indent="0" marL="0">
              <a:buNone/>
            </a:pPr>
            <a:r>
              <a:rPr lang="en-US" sz="1400" dirty="0">
                <a:solidFill>
                  <a:schemeClr val="tx1"/>
                </a:solidFill>
              </a:rPr>
              <a:t>Backend language</a:t>
            </a:r>
            <a:endParaRPr lang="en-US" sz="1400" dirty="0"/>
          </a:p>
        </p:txBody>
      </p:sp>
      <p:sp>
        <p:nvSpPr>
          <p:cNvPr id="7" name="FastAPI circle"/>
          <p:cNvSpPr/>
          <p:nvPr/>
        </p:nvSpPr>
        <p:spPr>
          <a:xfrm>
            <a:off x="457200" y="1938528"/>
            <a:ext cx="502920" cy="502920"/>
          </a:xfrm>
          <a:prstGeom prst="ellipse">
            <a:avLst/>
          </a:prstGeom>
          <a:solidFill>
            <a:schemeClr val="accent2"/>
          </a:solidFill>
          <a:ln w="12700">
            <a:solidFill>
              <a:schemeClr val="accent2"/>
            </a:solidFill>
            <a:prstDash val="solid"/>
          </a:ln>
        </p:spPr>
      </p:sp>
      <p:pic>
        <p:nvPicPr>
          <p:cNvPr id="8" name="FastAPI icon" descr="FastAPI">    </p:cNvPr>
          <p:cNvPicPr>
            <a:picLocks noChangeAspect="1"/>
          </p:cNvPicPr>
          <p:nvPr/>
        </p:nvPicPr>
        <p:blipFill>
          <a:blip r:embed="rId2"/>
          <a:stretch>
            <a:fillRect/>
          </a:stretch>
        </p:blipFill>
        <p:spPr>
          <a:xfrm>
            <a:off x="582930" y="2064258"/>
            <a:ext cx="251460" cy="251460"/>
          </a:xfrm>
          <a:prstGeom prst="rect">
            <a:avLst/>
          </a:prstGeom>
        </p:spPr>
      </p:pic>
      <p:sp>
        <p:nvSpPr>
          <p:cNvPr id="9" name="Text 5"/>
          <p:cNvSpPr txBox="1"/>
          <p:nvPr/>
        </p:nvSpPr>
        <p:spPr>
          <a:xfrm>
            <a:off x="1143000" y="1920240"/>
            <a:ext cx="3840480" cy="274320"/>
          </a:xfrm>
          <a:prstGeom prst="rect">
            <a:avLst/>
          </a:prstGeom>
          <a:noFill/>
          <a:ln/>
        </p:spPr>
        <p:txBody>
          <a:bodyPr wrap="square" lIns="0" tIns="0" rIns="0" bIns="0" rtlCol="0" anchor="t"/>
          <a:lstStyle/>
          <a:p>
            <a:pPr indent="0" marL="0">
              <a:buNone/>
            </a:pPr>
            <a:r>
              <a:rPr lang="en-US" sz="1600" b="1" dirty="0">
                <a:solidFill>
                  <a:schemeClr val="tx2"/>
                </a:solidFill>
              </a:rPr>
              <a:t>FastAPI</a:t>
            </a:r>
            <a:endParaRPr lang="en-US" sz="1600" dirty="0"/>
          </a:p>
        </p:txBody>
      </p:sp>
      <p:sp>
        <p:nvSpPr>
          <p:cNvPr id="10" name="Text 6"/>
          <p:cNvSpPr txBox="1"/>
          <p:nvPr/>
        </p:nvSpPr>
        <p:spPr>
          <a:xfrm>
            <a:off x="1143000" y="2194560"/>
            <a:ext cx="3840480" cy="274320"/>
          </a:xfrm>
          <a:prstGeom prst="rect">
            <a:avLst/>
          </a:prstGeom>
          <a:noFill/>
          <a:ln/>
        </p:spPr>
        <p:txBody>
          <a:bodyPr wrap="square" lIns="0" tIns="0" rIns="0" bIns="0" rtlCol="0" anchor="t"/>
          <a:lstStyle/>
          <a:p>
            <a:pPr indent="0" marL="0">
              <a:buNone/>
            </a:pPr>
            <a:r>
              <a:rPr lang="en-US" sz="1400" dirty="0">
                <a:solidFill>
                  <a:schemeClr val="tx1"/>
                </a:solidFill>
              </a:rPr>
              <a:t>Web server and API</a:t>
            </a:r>
            <a:endParaRPr lang="en-US" sz="1400" dirty="0"/>
          </a:p>
        </p:txBody>
      </p:sp>
      <p:sp>
        <p:nvSpPr>
          <p:cNvPr id="11" name="Ollama + Qwen3 0.6B circle"/>
          <p:cNvSpPr/>
          <p:nvPr/>
        </p:nvSpPr>
        <p:spPr>
          <a:xfrm>
            <a:off x="457200" y="2596896"/>
            <a:ext cx="502920" cy="502920"/>
          </a:xfrm>
          <a:prstGeom prst="ellipse">
            <a:avLst/>
          </a:prstGeom>
          <a:solidFill>
            <a:schemeClr val="accent2"/>
          </a:solidFill>
          <a:ln w="12700">
            <a:solidFill>
              <a:schemeClr val="accent2"/>
            </a:solidFill>
            <a:prstDash val="solid"/>
          </a:ln>
        </p:spPr>
      </p:sp>
      <p:pic>
        <p:nvPicPr>
          <p:cNvPr id="12" name="Ollama + Qwen3 0.6B icon" descr="Ollama + Qwen3 0.6B">    </p:cNvPr>
          <p:cNvPicPr>
            <a:picLocks noChangeAspect="1"/>
          </p:cNvPicPr>
          <p:nvPr/>
        </p:nvPicPr>
        <p:blipFill>
          <a:blip r:embed="rId3"/>
          <a:stretch>
            <a:fillRect/>
          </a:stretch>
        </p:blipFill>
        <p:spPr>
          <a:xfrm>
            <a:off x="582930" y="2722626"/>
            <a:ext cx="251460" cy="251460"/>
          </a:xfrm>
          <a:prstGeom prst="rect">
            <a:avLst/>
          </a:prstGeom>
        </p:spPr>
      </p:pic>
      <p:sp>
        <p:nvSpPr>
          <p:cNvPr id="13" name="Text 8"/>
          <p:cNvSpPr txBox="1"/>
          <p:nvPr/>
        </p:nvSpPr>
        <p:spPr>
          <a:xfrm>
            <a:off x="1143000" y="2578608"/>
            <a:ext cx="3840480" cy="274320"/>
          </a:xfrm>
          <a:prstGeom prst="rect">
            <a:avLst/>
          </a:prstGeom>
          <a:noFill/>
          <a:ln/>
        </p:spPr>
        <p:txBody>
          <a:bodyPr wrap="square" lIns="0" tIns="0" rIns="0" bIns="0" rtlCol="0" anchor="t"/>
          <a:lstStyle/>
          <a:p>
            <a:pPr indent="0" marL="0">
              <a:buNone/>
            </a:pPr>
            <a:r>
              <a:rPr lang="en-US" sz="1600" b="1" dirty="0">
                <a:solidFill>
                  <a:schemeClr val="tx2"/>
                </a:solidFill>
              </a:rPr>
              <a:t>Ollama + Qwen3 0.6B</a:t>
            </a:r>
            <a:endParaRPr lang="en-US" sz="1600" dirty="0"/>
          </a:p>
        </p:txBody>
      </p:sp>
      <p:sp>
        <p:nvSpPr>
          <p:cNvPr id="14" name="Text 9"/>
          <p:cNvSpPr txBox="1"/>
          <p:nvPr/>
        </p:nvSpPr>
        <p:spPr>
          <a:xfrm>
            <a:off x="1143000" y="2852928"/>
            <a:ext cx="3840480" cy="274320"/>
          </a:xfrm>
          <a:prstGeom prst="rect">
            <a:avLst/>
          </a:prstGeom>
          <a:noFill/>
          <a:ln/>
        </p:spPr>
        <p:txBody>
          <a:bodyPr wrap="square" lIns="0" tIns="0" rIns="0" bIns="0" rtlCol="0" anchor="t"/>
          <a:lstStyle/>
          <a:p>
            <a:pPr indent="0" marL="0">
              <a:buNone/>
            </a:pPr>
            <a:r>
              <a:rPr lang="en-US" sz="1400" dirty="0">
                <a:solidFill>
                  <a:schemeClr val="tx1"/>
                </a:solidFill>
              </a:rPr>
              <a:t>Small local model that only phrases answers</a:t>
            </a:r>
            <a:endParaRPr lang="en-US" sz="1400" dirty="0"/>
          </a:p>
        </p:txBody>
      </p:sp>
      <p:sp>
        <p:nvSpPr>
          <p:cNvPr id="15" name="HTML, CSS, JavaScript circle"/>
          <p:cNvSpPr/>
          <p:nvPr/>
        </p:nvSpPr>
        <p:spPr>
          <a:xfrm>
            <a:off x="457200" y="3255264"/>
            <a:ext cx="502920" cy="502920"/>
          </a:xfrm>
          <a:prstGeom prst="ellipse">
            <a:avLst/>
          </a:prstGeom>
          <a:solidFill>
            <a:schemeClr val="accent2"/>
          </a:solidFill>
          <a:ln w="12700">
            <a:solidFill>
              <a:schemeClr val="accent2"/>
            </a:solidFill>
            <a:prstDash val="solid"/>
          </a:ln>
        </p:spPr>
      </p:sp>
      <p:pic>
        <p:nvPicPr>
          <p:cNvPr id="16" name="HTML, CSS, JavaScript icon" descr="HTML, CSS, JavaScript">    </p:cNvPr>
          <p:cNvPicPr>
            <a:picLocks noChangeAspect="1"/>
          </p:cNvPicPr>
          <p:nvPr/>
        </p:nvPicPr>
        <p:blipFill>
          <a:blip r:embed="rId4"/>
          <a:stretch>
            <a:fillRect/>
          </a:stretch>
        </p:blipFill>
        <p:spPr>
          <a:xfrm>
            <a:off x="582930" y="3380994"/>
            <a:ext cx="251460" cy="251460"/>
          </a:xfrm>
          <a:prstGeom prst="rect">
            <a:avLst/>
          </a:prstGeom>
        </p:spPr>
      </p:pic>
      <p:sp>
        <p:nvSpPr>
          <p:cNvPr id="17" name="Text 11"/>
          <p:cNvSpPr txBox="1"/>
          <p:nvPr/>
        </p:nvSpPr>
        <p:spPr>
          <a:xfrm>
            <a:off x="1143000" y="3236976"/>
            <a:ext cx="3840480" cy="274320"/>
          </a:xfrm>
          <a:prstGeom prst="rect">
            <a:avLst/>
          </a:prstGeom>
          <a:noFill/>
          <a:ln/>
        </p:spPr>
        <p:txBody>
          <a:bodyPr wrap="square" lIns="0" tIns="0" rIns="0" bIns="0" rtlCol="0" anchor="t"/>
          <a:lstStyle/>
          <a:p>
            <a:pPr indent="0" marL="0">
              <a:buNone/>
            </a:pPr>
            <a:r>
              <a:rPr lang="en-US" sz="1600" b="1" dirty="0">
                <a:solidFill>
                  <a:schemeClr val="tx2"/>
                </a:solidFill>
              </a:rPr>
              <a:t>HTML, CSS, JavaScript</a:t>
            </a:r>
            <a:endParaRPr lang="en-US" sz="1600" dirty="0"/>
          </a:p>
        </p:txBody>
      </p:sp>
      <p:sp>
        <p:nvSpPr>
          <p:cNvPr id="18" name="Text 12"/>
          <p:cNvSpPr txBox="1"/>
          <p:nvPr/>
        </p:nvSpPr>
        <p:spPr>
          <a:xfrm>
            <a:off x="1143000" y="3511296"/>
            <a:ext cx="3840480" cy="274320"/>
          </a:xfrm>
          <a:prstGeom prst="rect">
            <a:avLst/>
          </a:prstGeom>
          <a:noFill/>
          <a:ln/>
        </p:spPr>
        <p:txBody>
          <a:bodyPr wrap="square" lIns="0" tIns="0" rIns="0" bIns="0" rtlCol="0" anchor="t"/>
          <a:lstStyle/>
          <a:p>
            <a:pPr indent="0" marL="0">
              <a:buNone/>
            </a:pPr>
            <a:r>
              <a:rPr lang="en-US" sz="1400" dirty="0">
                <a:solidFill>
                  <a:schemeClr val="tx1"/>
                </a:solidFill>
              </a:rPr>
              <a:t>Windows 11-style chat window</a:t>
            </a:r>
            <a:endParaRPr lang="en-US" sz="1400" dirty="0"/>
          </a:p>
        </p:txBody>
      </p:sp>
      <p:sp>
        <p:nvSpPr>
          <p:cNvPr id="19" name="JSON file circle"/>
          <p:cNvSpPr/>
          <p:nvPr/>
        </p:nvSpPr>
        <p:spPr>
          <a:xfrm>
            <a:off x="457200" y="3913632"/>
            <a:ext cx="502920" cy="502920"/>
          </a:xfrm>
          <a:prstGeom prst="ellipse">
            <a:avLst/>
          </a:prstGeom>
          <a:solidFill>
            <a:schemeClr val="accent2"/>
          </a:solidFill>
          <a:ln w="12700">
            <a:solidFill>
              <a:schemeClr val="accent2"/>
            </a:solidFill>
            <a:prstDash val="solid"/>
          </a:ln>
        </p:spPr>
      </p:sp>
      <p:pic>
        <p:nvPicPr>
          <p:cNvPr id="20" name="JSON file icon" descr="JSON file">    </p:cNvPr>
          <p:cNvPicPr>
            <a:picLocks noChangeAspect="1"/>
          </p:cNvPicPr>
          <p:nvPr/>
        </p:nvPicPr>
        <p:blipFill>
          <a:blip r:embed="rId5"/>
          <a:stretch>
            <a:fillRect/>
          </a:stretch>
        </p:blipFill>
        <p:spPr>
          <a:xfrm>
            <a:off x="582930" y="4039362"/>
            <a:ext cx="251460" cy="251460"/>
          </a:xfrm>
          <a:prstGeom prst="rect">
            <a:avLst/>
          </a:prstGeom>
        </p:spPr>
      </p:pic>
      <p:sp>
        <p:nvSpPr>
          <p:cNvPr id="21" name="Text 14"/>
          <p:cNvSpPr txBox="1"/>
          <p:nvPr/>
        </p:nvSpPr>
        <p:spPr>
          <a:xfrm>
            <a:off x="1143000" y="3895344"/>
            <a:ext cx="3840480" cy="274320"/>
          </a:xfrm>
          <a:prstGeom prst="rect">
            <a:avLst/>
          </a:prstGeom>
          <a:noFill/>
          <a:ln/>
        </p:spPr>
        <p:txBody>
          <a:bodyPr wrap="square" lIns="0" tIns="0" rIns="0" bIns="0" rtlCol="0" anchor="t"/>
          <a:lstStyle/>
          <a:p>
            <a:pPr indent="0" marL="0">
              <a:buNone/>
            </a:pPr>
            <a:r>
              <a:rPr lang="en-US" sz="1600" b="1" dirty="0">
                <a:solidFill>
                  <a:schemeClr val="tx2"/>
                </a:solidFill>
              </a:rPr>
              <a:t>JSON file</a:t>
            </a:r>
            <a:endParaRPr lang="en-US" sz="1600" dirty="0"/>
          </a:p>
        </p:txBody>
      </p:sp>
      <p:sp>
        <p:nvSpPr>
          <p:cNvPr id="22" name="Text 15"/>
          <p:cNvSpPr txBox="1"/>
          <p:nvPr/>
        </p:nvSpPr>
        <p:spPr>
          <a:xfrm>
            <a:off x="1143000" y="4169664"/>
            <a:ext cx="3840480" cy="274320"/>
          </a:xfrm>
          <a:prstGeom prst="rect">
            <a:avLst/>
          </a:prstGeom>
          <a:noFill/>
          <a:ln/>
        </p:spPr>
        <p:txBody>
          <a:bodyPr wrap="square" lIns="0" tIns="0" rIns="0" bIns="0" rtlCol="0" anchor="t"/>
          <a:lstStyle/>
          <a:p>
            <a:pPr indent="0" marL="0">
              <a:buNone/>
            </a:pPr>
            <a:r>
              <a:rPr lang="en-US" sz="1400" dirty="0">
                <a:solidFill>
                  <a:schemeClr val="tx1"/>
                </a:solidFill>
              </a:rPr>
              <a:t>data/knowledge.json, no database yet</a:t>
            </a:r>
            <a:endParaRPr lang="en-US" sz="1400" dirty="0"/>
          </a:p>
        </p:txBody>
      </p:sp>
      <p:sp>
        <p:nvSpPr>
          <p:cNvPr id="23" name="Settings card"/>
          <p:cNvSpPr/>
          <p:nvPr/>
        </p:nvSpPr>
        <p:spPr>
          <a:xfrm>
            <a:off x="5303520" y="1280160"/>
            <a:ext cx="3383280" cy="3246120"/>
          </a:xfrm>
          <a:prstGeom prst="roundRect">
            <a:avLst>
              <a:gd name="adj" fmla="val 2254"/>
            </a:avLst>
          </a:prstGeom>
          <a:solidFill>
            <a:schemeClr val="bg2"/>
          </a:solidFill>
          <a:ln w="12700">
            <a:solidFill>
              <a:schemeClr val="bg2"/>
            </a:solidFill>
            <a:prstDash val="solid"/>
          </a:ln>
        </p:spPr>
      </p:sp>
      <p:sp>
        <p:nvSpPr>
          <p:cNvPr id="24" name="Text 17"/>
          <p:cNvSpPr txBox="1"/>
          <p:nvPr/>
        </p:nvSpPr>
        <p:spPr>
          <a:xfrm>
            <a:off x="5532120" y="1463040"/>
            <a:ext cx="3017520" cy="457200"/>
          </a:xfrm>
          <a:prstGeom prst="rect">
            <a:avLst/>
          </a:prstGeom>
          <a:noFill/>
          <a:ln/>
        </p:spPr>
        <p:txBody>
          <a:bodyPr wrap="square" lIns="0" tIns="0" rIns="0" bIns="0" rtlCol="0" anchor="t"/>
          <a:lstStyle/>
          <a:p>
            <a:pPr indent="0" marL="0">
              <a:buNone/>
            </a:pPr>
            <a:r>
              <a:rPr lang="en-US" sz="1400" b="1" dirty="0">
                <a:solidFill>
                  <a:schemeClr val="tx2"/>
                </a:solidFill>
              </a:rPr>
              <a:t>Settings (config.py or environment)</a:t>
            </a:r>
            <a:endParaRPr lang="en-US" sz="1400" dirty="0"/>
          </a:p>
        </p:txBody>
      </p:sp>
      <p:sp>
        <p:nvSpPr>
          <p:cNvPr id="25" name="Text 18"/>
          <p:cNvSpPr txBox="1"/>
          <p:nvPr/>
        </p:nvSpPr>
        <p:spPr>
          <a:xfrm>
            <a:off x="5532120" y="2057400"/>
            <a:ext cx="3017520" cy="365760"/>
          </a:xfrm>
          <a:prstGeom prst="rect">
            <a:avLst/>
          </a:prstGeom>
          <a:noFill/>
          <a:ln/>
        </p:spPr>
        <p:txBody>
          <a:bodyPr wrap="square" lIns="0" tIns="0" rIns="0" bIns="0" rtlCol="0" anchor="ctr"/>
          <a:lstStyle/>
          <a:p>
            <a:pPr indent="0" marL="0">
              <a:buNone/>
            </a:pPr>
            <a:r>
              <a:rPr lang="en-US" sz="1400" b="1" dirty="0">
                <a:solidFill>
                  <a:schemeClr val="accent2"/>
                </a:solidFill>
              </a:rPr>
              <a:t>SUPPORT_PHONE</a:t>
            </a:r>
            <a:pPr indent="0" marL="0">
              <a:buNone/>
            </a:pPr>
            <a:r>
              <a:rPr lang="en-US" sz="1400" dirty="0">
                <a:solidFill>
                  <a:schemeClr val="tx1"/>
                </a:solidFill>
              </a:rPr>
              <a:t>  support number</a:t>
            </a:r>
            <a:endParaRPr lang="en-US" sz="1400" dirty="0"/>
          </a:p>
        </p:txBody>
      </p:sp>
      <p:sp>
        <p:nvSpPr>
          <p:cNvPr id="26" name="Text 19"/>
          <p:cNvSpPr txBox="1"/>
          <p:nvPr/>
        </p:nvSpPr>
        <p:spPr>
          <a:xfrm>
            <a:off x="5532120" y="2514600"/>
            <a:ext cx="3017520" cy="365760"/>
          </a:xfrm>
          <a:prstGeom prst="rect">
            <a:avLst/>
          </a:prstGeom>
          <a:noFill/>
          <a:ln/>
        </p:spPr>
        <p:txBody>
          <a:bodyPr wrap="square" lIns="0" tIns="0" rIns="0" bIns="0" rtlCol="0" anchor="ctr"/>
          <a:lstStyle/>
          <a:p>
            <a:pPr indent="0" marL="0">
              <a:buNone/>
            </a:pPr>
            <a:r>
              <a:rPr lang="en-US" sz="1400" b="1" dirty="0">
                <a:solidFill>
                  <a:schemeClr val="accent2"/>
                </a:solidFill>
              </a:rPr>
              <a:t>OLLAMA_MODEL</a:t>
            </a:r>
            <a:pPr indent="0" marL="0">
              <a:buNone/>
            </a:pPr>
            <a:r>
              <a:rPr lang="en-US" sz="1400" dirty="0">
                <a:solidFill>
                  <a:schemeClr val="tx1"/>
                </a:solidFill>
              </a:rPr>
              <a:t>  qwen3:0.6b</a:t>
            </a:r>
            <a:endParaRPr lang="en-US" sz="1400" dirty="0"/>
          </a:p>
        </p:txBody>
      </p:sp>
      <p:sp>
        <p:nvSpPr>
          <p:cNvPr id="27" name="Text 20"/>
          <p:cNvSpPr txBox="1"/>
          <p:nvPr/>
        </p:nvSpPr>
        <p:spPr>
          <a:xfrm>
            <a:off x="5532120" y="2971800"/>
            <a:ext cx="3017520" cy="365760"/>
          </a:xfrm>
          <a:prstGeom prst="rect">
            <a:avLst/>
          </a:prstGeom>
          <a:noFill/>
          <a:ln/>
        </p:spPr>
        <p:txBody>
          <a:bodyPr wrap="square" lIns="0" tIns="0" rIns="0" bIns="0" rtlCol="0" anchor="ctr"/>
          <a:lstStyle/>
          <a:p>
            <a:pPr indent="0" marL="0">
              <a:buNone/>
            </a:pPr>
            <a:r>
              <a:rPr lang="en-US" sz="1400" b="1" dirty="0">
                <a:solidFill>
                  <a:schemeClr val="accent2"/>
                </a:solidFill>
              </a:rPr>
              <a:t>OLLAMA_URL</a:t>
            </a:r>
            <a:pPr indent="0" marL="0">
              <a:buNone/>
            </a:pPr>
            <a:r>
              <a:rPr lang="en-US" sz="1400" dirty="0">
                <a:solidFill>
                  <a:schemeClr val="tx1"/>
                </a:solidFill>
              </a:rPr>
              <a:t>  localhost:11434</a:t>
            </a:r>
            <a:endParaRPr lang="en-US" sz="1400" dirty="0"/>
          </a:p>
        </p:txBody>
      </p:sp>
      <p:sp>
        <p:nvSpPr>
          <p:cNvPr id="28" name="Text 21"/>
          <p:cNvSpPr txBox="1"/>
          <p:nvPr/>
        </p:nvSpPr>
        <p:spPr>
          <a:xfrm>
            <a:off x="5532120" y="3429000"/>
            <a:ext cx="3017520" cy="365760"/>
          </a:xfrm>
          <a:prstGeom prst="rect">
            <a:avLst/>
          </a:prstGeom>
          <a:noFill/>
          <a:ln/>
        </p:spPr>
        <p:txBody>
          <a:bodyPr wrap="square" lIns="0" tIns="0" rIns="0" bIns="0" rtlCol="0" anchor="ctr"/>
          <a:lstStyle/>
          <a:p>
            <a:pPr indent="0" marL="0">
              <a:buNone/>
            </a:pPr>
            <a:r>
              <a:rPr lang="en-US" sz="1400" b="1" dirty="0">
                <a:solidFill>
                  <a:schemeClr val="accent2"/>
                </a:solidFill>
              </a:rPr>
              <a:t>USE_LLM</a:t>
            </a:r>
            <a:pPr indent="0" marL="0">
              <a:buNone/>
            </a:pPr>
            <a:r>
              <a:rPr lang="en-US" sz="1400" dirty="0">
                <a:solidFill>
                  <a:schemeClr val="tx1"/>
                </a:solidFill>
              </a:rPr>
              <a:t>  AI wording on or off</a:t>
            </a:r>
            <a:endParaRPr lang="en-US" sz="1400" dirty="0"/>
          </a:p>
        </p:txBody>
      </p:sp>
      <p:sp>
        <p:nvSpPr>
          <p:cNvPr id="29" name="Text 22"/>
          <p:cNvSpPr txBox="1"/>
          <p:nvPr/>
        </p:nvSpPr>
        <p:spPr>
          <a:xfrm>
            <a:off x="5532120" y="3886200"/>
            <a:ext cx="3017520" cy="365760"/>
          </a:xfrm>
          <a:prstGeom prst="rect">
            <a:avLst/>
          </a:prstGeom>
          <a:noFill/>
          <a:ln/>
        </p:spPr>
        <p:txBody>
          <a:bodyPr wrap="square" lIns="0" tIns="0" rIns="0" bIns="0" rtlCol="0" anchor="ctr"/>
          <a:lstStyle/>
          <a:p>
            <a:pPr indent="0" marL="0">
              <a:buNone/>
            </a:pPr>
            <a:r>
              <a:rPr lang="en-US" sz="1400" b="1" dirty="0">
                <a:solidFill>
                  <a:schemeClr val="accent2"/>
                </a:solidFill>
              </a:rPr>
              <a:t>PORT</a:t>
            </a:r>
            <a:pPr indent="0" marL="0">
              <a:buNone/>
            </a:pPr>
            <a:r>
              <a:rPr lang="en-US" sz="1400" dirty="0">
                <a:solidFill>
                  <a:schemeClr val="tx1"/>
                </a:solidFill>
              </a:rPr>
              <a:t>  default 8000</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2"/>
                </a:solidFill>
              </a:rPr>
              <a:t>Project structure</a:t>
            </a:r>
            <a:endParaRPr lang="en-US" sz="3400" dirty="0"/>
          </a:p>
        </p:txBody>
      </p:sp>
      <p:sp>
        <p:nvSpPr>
          <p:cNvPr id="3" name="Code card"/>
          <p:cNvSpPr/>
          <p:nvPr/>
        </p:nvSpPr>
        <p:spPr>
          <a:xfrm>
            <a:off x="457200" y="1280160"/>
            <a:ext cx="4297680" cy="3246120"/>
          </a:xfrm>
          <a:prstGeom prst="roundRect">
            <a:avLst>
              <a:gd name="adj" fmla="val 2254"/>
            </a:avLst>
          </a:prstGeom>
          <a:solidFill>
            <a:schemeClr val="tx2"/>
          </a:solidFill>
          <a:ln w="12700">
            <a:solidFill>
              <a:schemeClr val="tx2"/>
            </a:solidFill>
            <a:prstDash val="solid"/>
          </a:ln>
        </p:spPr>
      </p:sp>
      <p:sp>
        <p:nvSpPr>
          <p:cNvPr id="4" name="Text 2"/>
          <p:cNvSpPr txBox="1"/>
          <p:nvPr/>
        </p:nvSpPr>
        <p:spPr>
          <a:xfrm>
            <a:off x="640080" y="1463040"/>
            <a:ext cx="4023360" cy="2926080"/>
          </a:xfrm>
          <a:prstGeom prst="rect">
            <a:avLst/>
          </a:prstGeom>
          <a:noFill/>
          <a:ln/>
        </p:spPr>
        <p:txBody>
          <a:bodyPr wrap="square" lIns="0" tIns="0" rIns="0" bIns="0" rtlCol="0" anchor="t"/>
          <a:lstStyle/>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ai-scooty-chatbot/</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 run.py  start.bat  config.py</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 requirements.txt</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 app/</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     main.py  matcher.py</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     llm.py  text_utils.py</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 data/    knowledge.json</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 tools/   build_dataset.py</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 static/</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     index.html style.css app.js</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 tests/   test_matcher.py</a:t>
            </a:r>
            <a:endParaRPr lang="en-US" sz="1200" dirty="0"/>
          </a:p>
        </p:txBody>
      </p:sp>
      <p:sp>
        <p:nvSpPr>
          <p:cNvPr id="5" name="Role 1"/>
          <p:cNvSpPr/>
          <p:nvPr/>
        </p:nvSpPr>
        <p:spPr>
          <a:xfrm>
            <a:off x="5029200" y="1280160"/>
            <a:ext cx="3657600" cy="713232"/>
          </a:xfrm>
          <a:prstGeom prst="roundRect">
            <a:avLst>
              <a:gd name="adj" fmla="val 10256"/>
            </a:avLst>
          </a:prstGeom>
          <a:solidFill>
            <a:schemeClr val="bg2"/>
          </a:solidFill>
          <a:ln w="12700">
            <a:solidFill>
              <a:schemeClr val="bg2"/>
            </a:solidFill>
            <a:prstDash val="solid"/>
          </a:ln>
        </p:spPr>
      </p:sp>
      <p:sp>
        <p:nvSpPr>
          <p:cNvPr id="6" name="Text 4"/>
          <p:cNvSpPr txBox="1"/>
          <p:nvPr/>
        </p:nvSpPr>
        <p:spPr>
          <a:xfrm>
            <a:off x="5212080" y="1280160"/>
            <a:ext cx="3337560" cy="713232"/>
          </a:xfrm>
          <a:prstGeom prst="rect">
            <a:avLst/>
          </a:prstGeom>
          <a:noFill/>
          <a:ln/>
        </p:spPr>
        <p:txBody>
          <a:bodyPr wrap="square" lIns="0" tIns="0" rIns="0" bIns="0" rtlCol="0" anchor="ctr"/>
          <a:lstStyle/>
          <a:p>
            <a:pPr indent="0" marL="0">
              <a:buNone/>
            </a:pPr>
            <a:r>
              <a:rPr lang="en-US" sz="1400" b="1" dirty="0">
                <a:solidFill>
                  <a:schemeClr val="accent2"/>
                </a:solidFill>
              </a:rPr>
              <a:t>app/  </a:t>
            </a:r>
            <a:pPr indent="0" marL="0">
              <a:buNone/>
            </a:pPr>
            <a:r>
              <a:rPr lang="en-US" sz="1400" dirty="0">
                <a:solidFill>
                  <a:schemeClr val="tx1"/>
                </a:solidFill>
              </a:rPr>
              <a:t>the server and the matching brain</a:t>
            </a:r>
            <a:endParaRPr lang="en-US" sz="1400" dirty="0"/>
          </a:p>
        </p:txBody>
      </p:sp>
      <p:sp>
        <p:nvSpPr>
          <p:cNvPr id="7" name="Role 2"/>
          <p:cNvSpPr/>
          <p:nvPr/>
        </p:nvSpPr>
        <p:spPr>
          <a:xfrm>
            <a:off x="5029200" y="2103120"/>
            <a:ext cx="3657600" cy="713232"/>
          </a:xfrm>
          <a:prstGeom prst="roundRect">
            <a:avLst>
              <a:gd name="adj" fmla="val 10256"/>
            </a:avLst>
          </a:prstGeom>
          <a:solidFill>
            <a:schemeClr val="bg2"/>
          </a:solidFill>
          <a:ln w="12700">
            <a:solidFill>
              <a:schemeClr val="bg2"/>
            </a:solidFill>
            <a:prstDash val="solid"/>
          </a:ln>
        </p:spPr>
      </p:sp>
      <p:sp>
        <p:nvSpPr>
          <p:cNvPr id="8" name="Text 6"/>
          <p:cNvSpPr txBox="1"/>
          <p:nvPr/>
        </p:nvSpPr>
        <p:spPr>
          <a:xfrm>
            <a:off x="5212080" y="2103120"/>
            <a:ext cx="3337560" cy="713232"/>
          </a:xfrm>
          <a:prstGeom prst="rect">
            <a:avLst/>
          </a:prstGeom>
          <a:noFill/>
          <a:ln/>
        </p:spPr>
        <p:txBody>
          <a:bodyPr wrap="square" lIns="0" tIns="0" rIns="0" bIns="0" rtlCol="0" anchor="ctr"/>
          <a:lstStyle/>
          <a:p>
            <a:pPr indent="0" marL="0">
              <a:buNone/>
            </a:pPr>
            <a:r>
              <a:rPr lang="en-US" sz="1400" b="1" dirty="0">
                <a:solidFill>
                  <a:schemeClr val="accent2"/>
                </a:solidFill>
              </a:rPr>
              <a:t>data/ and tools/  </a:t>
            </a:r>
            <a:pPr indent="0" marL="0">
              <a:buNone/>
            </a:pPr>
            <a:r>
              <a:rPr lang="en-US" sz="1400" dirty="0">
                <a:solidFill>
                  <a:schemeClr val="tx1"/>
                </a:solidFill>
              </a:rPr>
              <a:t>the knowledge file and the script that builds it</a:t>
            </a:r>
            <a:endParaRPr lang="en-US" sz="1400" dirty="0"/>
          </a:p>
        </p:txBody>
      </p:sp>
      <p:sp>
        <p:nvSpPr>
          <p:cNvPr id="9" name="Role 3"/>
          <p:cNvSpPr/>
          <p:nvPr/>
        </p:nvSpPr>
        <p:spPr>
          <a:xfrm>
            <a:off x="5029200" y="2926080"/>
            <a:ext cx="3657600" cy="713232"/>
          </a:xfrm>
          <a:prstGeom prst="roundRect">
            <a:avLst>
              <a:gd name="adj" fmla="val 10256"/>
            </a:avLst>
          </a:prstGeom>
          <a:solidFill>
            <a:schemeClr val="bg2"/>
          </a:solidFill>
          <a:ln w="12700">
            <a:solidFill>
              <a:schemeClr val="bg2"/>
            </a:solidFill>
            <a:prstDash val="solid"/>
          </a:ln>
        </p:spPr>
      </p:sp>
      <p:sp>
        <p:nvSpPr>
          <p:cNvPr id="10" name="Text 8"/>
          <p:cNvSpPr txBox="1"/>
          <p:nvPr/>
        </p:nvSpPr>
        <p:spPr>
          <a:xfrm>
            <a:off x="5212080" y="2926080"/>
            <a:ext cx="3337560" cy="713232"/>
          </a:xfrm>
          <a:prstGeom prst="rect">
            <a:avLst/>
          </a:prstGeom>
          <a:noFill/>
          <a:ln/>
        </p:spPr>
        <p:txBody>
          <a:bodyPr wrap="square" lIns="0" tIns="0" rIns="0" bIns="0" rtlCol="0" anchor="ctr"/>
          <a:lstStyle/>
          <a:p>
            <a:pPr indent="0" marL="0">
              <a:buNone/>
            </a:pPr>
            <a:r>
              <a:rPr lang="en-US" sz="1400" b="1" dirty="0">
                <a:solidFill>
                  <a:schemeClr val="accent2"/>
                </a:solidFill>
              </a:rPr>
              <a:t>static/  </a:t>
            </a:r>
            <a:pPr indent="0" marL="0">
              <a:buNone/>
            </a:pPr>
            <a:r>
              <a:rPr lang="en-US" sz="1400" dirty="0">
                <a:solidFill>
                  <a:schemeClr val="tx1"/>
                </a:solidFill>
              </a:rPr>
              <a:t>the Windows-style chat window</a:t>
            </a:r>
            <a:endParaRPr lang="en-US" sz="1400" dirty="0"/>
          </a:p>
        </p:txBody>
      </p:sp>
      <p:sp>
        <p:nvSpPr>
          <p:cNvPr id="11" name="Role 4"/>
          <p:cNvSpPr/>
          <p:nvPr/>
        </p:nvSpPr>
        <p:spPr>
          <a:xfrm>
            <a:off x="5029200" y="3749040"/>
            <a:ext cx="3657600" cy="713232"/>
          </a:xfrm>
          <a:prstGeom prst="roundRect">
            <a:avLst>
              <a:gd name="adj" fmla="val 10256"/>
            </a:avLst>
          </a:prstGeom>
          <a:solidFill>
            <a:schemeClr val="bg2"/>
          </a:solidFill>
          <a:ln w="12700">
            <a:solidFill>
              <a:schemeClr val="bg2"/>
            </a:solidFill>
            <a:prstDash val="solid"/>
          </a:ln>
        </p:spPr>
      </p:sp>
      <p:sp>
        <p:nvSpPr>
          <p:cNvPr id="12" name="Text 10"/>
          <p:cNvSpPr txBox="1"/>
          <p:nvPr/>
        </p:nvSpPr>
        <p:spPr>
          <a:xfrm>
            <a:off x="5212080" y="3749040"/>
            <a:ext cx="3337560" cy="713232"/>
          </a:xfrm>
          <a:prstGeom prst="rect">
            <a:avLst/>
          </a:prstGeom>
          <a:noFill/>
          <a:ln/>
        </p:spPr>
        <p:txBody>
          <a:bodyPr wrap="square" lIns="0" tIns="0" rIns="0" bIns="0" rtlCol="0" anchor="ctr"/>
          <a:lstStyle/>
          <a:p>
            <a:pPr indent="0" marL="0">
              <a:buNone/>
            </a:pPr>
            <a:r>
              <a:rPr lang="en-US" sz="1400" b="1" dirty="0">
                <a:solidFill>
                  <a:schemeClr val="accent2"/>
                </a:solidFill>
              </a:rPr>
              <a:t>tests/  </a:t>
            </a:r>
            <a:pPr indent="0" marL="0">
              <a:buNone/>
            </a:pPr>
            <a:r>
              <a:rPr lang="en-US" sz="1400" dirty="0">
                <a:solidFill>
                  <a:schemeClr val="tx1"/>
                </a:solidFill>
              </a:rPr>
              <a:t>checks for answers and blocked questions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2"/>
                </a:solidFill>
              </a:rPr>
              <a:t>Testing and health check</a:t>
            </a:r>
            <a:endParaRPr lang="en-US" sz="3400" dirty="0"/>
          </a:p>
        </p:txBody>
      </p:sp>
      <p:sp>
        <p:nvSpPr>
          <p:cNvPr id="3" name="Test card 1"/>
          <p:cNvSpPr/>
          <p:nvPr/>
        </p:nvSpPr>
        <p:spPr>
          <a:xfrm>
            <a:off x="457200" y="1280160"/>
            <a:ext cx="4023360" cy="2514600"/>
          </a:xfrm>
          <a:prstGeom prst="roundRect">
            <a:avLst>
              <a:gd name="adj" fmla="val 2909"/>
            </a:avLst>
          </a:prstGeom>
          <a:solidFill>
            <a:schemeClr val="bg2"/>
          </a:solidFill>
          <a:ln w="12700">
            <a:solidFill>
              <a:schemeClr val="bg2"/>
            </a:solidFill>
            <a:prstDash val="solid"/>
          </a:ln>
        </p:spPr>
      </p:sp>
      <p:sp>
        <p:nvSpPr>
          <p:cNvPr id="4" name="Automated tests circle"/>
          <p:cNvSpPr/>
          <p:nvPr/>
        </p:nvSpPr>
        <p:spPr>
          <a:xfrm>
            <a:off x="731520" y="1508760"/>
            <a:ext cx="594360" cy="594360"/>
          </a:xfrm>
          <a:prstGeom prst="ellipse">
            <a:avLst/>
          </a:prstGeom>
          <a:solidFill>
            <a:schemeClr val="accent2"/>
          </a:solidFill>
          <a:ln w="12700">
            <a:solidFill>
              <a:schemeClr val="accent2"/>
            </a:solidFill>
            <a:prstDash val="solid"/>
          </a:ln>
        </p:spPr>
      </p:sp>
      <p:pic>
        <p:nvPicPr>
          <p:cNvPr id="5" name="Automated tests icon" descr="Automated tests">    </p:cNvPr>
          <p:cNvPicPr>
            <a:picLocks noChangeAspect="1"/>
          </p:cNvPicPr>
          <p:nvPr/>
        </p:nvPicPr>
        <p:blipFill>
          <a:blip r:embed="rId1"/>
          <a:stretch>
            <a:fillRect/>
          </a:stretch>
        </p:blipFill>
        <p:spPr>
          <a:xfrm>
            <a:off x="880110" y="1657350"/>
            <a:ext cx="297180" cy="297180"/>
          </a:xfrm>
          <a:prstGeom prst="rect">
            <a:avLst/>
          </a:prstGeom>
        </p:spPr>
      </p:pic>
      <p:sp>
        <p:nvSpPr>
          <p:cNvPr id="6" name="Text 3"/>
          <p:cNvSpPr txBox="1"/>
          <p:nvPr/>
        </p:nvSpPr>
        <p:spPr>
          <a:xfrm>
            <a:off x="1508760" y="1508760"/>
            <a:ext cx="2743200" cy="5943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Automated tests</a:t>
            </a:r>
            <a:endParaRPr lang="en-US" sz="2000" dirty="0"/>
          </a:p>
        </p:txBody>
      </p:sp>
      <p:sp>
        <p:nvSpPr>
          <p:cNvPr id="7" name="Text 4"/>
          <p:cNvSpPr txBox="1"/>
          <p:nvPr/>
        </p:nvSpPr>
        <p:spPr>
          <a:xfrm>
            <a:off x="731520" y="2331720"/>
            <a:ext cx="3520440" cy="1371600"/>
          </a:xfrm>
          <a:prstGeom prst="rect">
            <a:avLst/>
          </a:prstGeom>
          <a:noFill/>
          <a:ln/>
        </p:spPr>
        <p:txBody>
          <a:bodyPr wrap="square" lIns="0" tIns="0" rIns="0" bIns="0" rtlCol="0" anchor="t"/>
          <a:lstStyle/>
          <a:p>
            <a:pPr indent="0" marL="0">
              <a:buNone/>
            </a:pPr>
            <a:r>
              <a:rPr lang="en-US" sz="1400" dirty="0">
                <a:solidFill>
                  <a:schemeClr val="tx1"/>
                </a:solidFill>
              </a:rPr>
              <a:t>tests/test_matcher.py checks that the right question gets the right answer, and that off-topic questions (weather, coding, battery, warranty) are blocked.</a:t>
            </a:r>
            <a:endParaRPr lang="en-US" sz="1400" dirty="0"/>
          </a:p>
        </p:txBody>
      </p:sp>
      <p:sp>
        <p:nvSpPr>
          <p:cNvPr id="8" name="Test card 2"/>
          <p:cNvSpPr/>
          <p:nvPr/>
        </p:nvSpPr>
        <p:spPr>
          <a:xfrm>
            <a:off x="4663440" y="1280160"/>
            <a:ext cx="4023360" cy="2514600"/>
          </a:xfrm>
          <a:prstGeom prst="roundRect">
            <a:avLst>
              <a:gd name="adj" fmla="val 2909"/>
            </a:avLst>
          </a:prstGeom>
          <a:solidFill>
            <a:schemeClr val="bg2"/>
          </a:solidFill>
          <a:ln w="12700">
            <a:solidFill>
              <a:schemeClr val="bg2"/>
            </a:solidFill>
            <a:prstDash val="solid"/>
          </a:ln>
        </p:spPr>
      </p:sp>
      <p:sp>
        <p:nvSpPr>
          <p:cNvPr id="9" name="Health check circle"/>
          <p:cNvSpPr/>
          <p:nvPr/>
        </p:nvSpPr>
        <p:spPr>
          <a:xfrm>
            <a:off x="4937760" y="1508760"/>
            <a:ext cx="594360" cy="594360"/>
          </a:xfrm>
          <a:prstGeom prst="ellipse">
            <a:avLst/>
          </a:prstGeom>
          <a:solidFill>
            <a:schemeClr val="accent2"/>
          </a:solidFill>
          <a:ln w="12700">
            <a:solidFill>
              <a:schemeClr val="accent2"/>
            </a:solidFill>
            <a:prstDash val="solid"/>
          </a:ln>
        </p:spPr>
      </p:sp>
      <p:pic>
        <p:nvPicPr>
          <p:cNvPr id="10" name="Health check icon" descr="Health check">    </p:cNvPr>
          <p:cNvPicPr>
            <a:picLocks noChangeAspect="1"/>
          </p:cNvPicPr>
          <p:nvPr/>
        </p:nvPicPr>
        <p:blipFill>
          <a:blip r:embed="rId2"/>
          <a:stretch>
            <a:fillRect/>
          </a:stretch>
        </p:blipFill>
        <p:spPr>
          <a:xfrm>
            <a:off x="5086350" y="1657350"/>
            <a:ext cx="297180" cy="297180"/>
          </a:xfrm>
          <a:prstGeom prst="rect">
            <a:avLst/>
          </a:prstGeom>
        </p:spPr>
      </p:pic>
      <p:sp>
        <p:nvSpPr>
          <p:cNvPr id="11" name="Text 7"/>
          <p:cNvSpPr txBox="1"/>
          <p:nvPr/>
        </p:nvSpPr>
        <p:spPr>
          <a:xfrm>
            <a:off x="5715000" y="1508760"/>
            <a:ext cx="2743200" cy="5943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Health check</a:t>
            </a:r>
            <a:endParaRPr lang="en-US" sz="2000" dirty="0"/>
          </a:p>
        </p:txBody>
      </p:sp>
      <p:sp>
        <p:nvSpPr>
          <p:cNvPr id="12" name="Text 8"/>
          <p:cNvSpPr txBox="1"/>
          <p:nvPr/>
        </p:nvSpPr>
        <p:spPr>
          <a:xfrm>
            <a:off x="4937760" y="2331720"/>
            <a:ext cx="3520440" cy="1371600"/>
          </a:xfrm>
          <a:prstGeom prst="rect">
            <a:avLst/>
          </a:prstGeom>
          <a:noFill/>
          <a:ln/>
        </p:spPr>
        <p:txBody>
          <a:bodyPr wrap="square" lIns="0" tIns="0" rIns="0" bIns="0" rtlCol="0" anchor="t"/>
          <a:lstStyle/>
          <a:p>
            <a:pPr indent="0" marL="0">
              <a:buNone/>
            </a:pPr>
            <a:r>
              <a:rPr lang="en-US" sz="1400" dirty="0">
                <a:solidFill>
                  <a:schemeClr val="tx1"/>
                </a:solidFill>
              </a:rPr>
              <a:t>Open /api/health to see whether Ollama is running and the model is installed.</a:t>
            </a:r>
            <a:endParaRPr lang="en-US" sz="1400" dirty="0"/>
          </a:p>
        </p:txBody>
      </p:sp>
      <p:sp>
        <p:nvSpPr>
          <p:cNvPr id="13" name="Reminder banner"/>
          <p:cNvSpPr/>
          <p:nvPr/>
        </p:nvSpPr>
        <p:spPr>
          <a:xfrm>
            <a:off x="457200" y="3931920"/>
            <a:ext cx="8229600" cy="594360"/>
          </a:xfrm>
          <a:prstGeom prst="roundRect">
            <a:avLst>
              <a:gd name="adj" fmla="val 12308"/>
            </a:avLst>
          </a:prstGeom>
          <a:solidFill>
            <a:schemeClr val="tx2"/>
          </a:solidFill>
          <a:ln w="12700">
            <a:solidFill>
              <a:schemeClr val="tx2"/>
            </a:solidFill>
            <a:prstDash val="solid"/>
          </a:ln>
        </p:spPr>
      </p:sp>
      <p:sp>
        <p:nvSpPr>
          <p:cNvPr id="14" name="Text 10"/>
          <p:cNvSpPr txBox="1"/>
          <p:nvPr/>
        </p:nvSpPr>
        <p:spPr>
          <a:xfrm>
            <a:off x="731520" y="3931920"/>
            <a:ext cx="7680960" cy="594360"/>
          </a:xfrm>
          <a:prstGeom prst="rect">
            <a:avLst/>
          </a:prstGeom>
          <a:noFill/>
          <a:ln/>
        </p:spPr>
        <p:txBody>
          <a:bodyPr wrap="square" lIns="0" tIns="0" rIns="0" bIns="0" rtlCol="0" anchor="ctr"/>
          <a:lstStyle/>
          <a:p>
            <a:pPr indent="0" marL="0">
              <a:buNone/>
            </a:pPr>
            <a:r>
              <a:rPr lang="en-US" sz="1600" b="1" dirty="0">
                <a:solidFill>
                  <a:schemeClr val="accent1"/>
                </a:solidFill>
              </a:rPr>
              <a:t>Re-run the tests after every dataset change.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2"/>
                </a:solidFill>
              </a:rPr>
              <a:t>How to run it</a:t>
            </a:r>
            <a:endParaRPr lang="en-US" sz="3400" dirty="0"/>
          </a:p>
        </p:txBody>
      </p:sp>
      <p:sp>
        <p:nvSpPr>
          <p:cNvPr id="3" name="Run step 1"/>
          <p:cNvSpPr/>
          <p:nvPr/>
        </p:nvSpPr>
        <p:spPr>
          <a:xfrm>
            <a:off x="457200" y="1280160"/>
            <a:ext cx="1920240" cy="2377440"/>
          </a:xfrm>
          <a:prstGeom prst="roundRect">
            <a:avLst>
              <a:gd name="adj" fmla="val 3810"/>
            </a:avLst>
          </a:prstGeom>
          <a:solidFill>
            <a:schemeClr val="bg2"/>
          </a:solidFill>
          <a:ln w="12700">
            <a:solidFill>
              <a:schemeClr val="bg2"/>
            </a:solidFill>
            <a:prstDash val="solid"/>
          </a:ln>
        </p:spPr>
      </p:sp>
      <p:sp>
        <p:nvSpPr>
          <p:cNvPr id="4" name="Step number 1"/>
          <p:cNvSpPr/>
          <p:nvPr/>
        </p:nvSpPr>
        <p:spPr>
          <a:xfrm>
            <a:off x="685800" y="150876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685800" y="1508760"/>
            <a:ext cx="502920" cy="502920"/>
          </a:xfrm>
          <a:prstGeom prst="rect">
            <a:avLst/>
          </a:prstGeom>
          <a:noFill/>
          <a:ln/>
        </p:spPr>
        <p:txBody>
          <a:bodyPr wrap="square" lIns="0" tIns="0" rIns="0" bIns="0" rtlCol="0" anchor="ctr"/>
          <a:lstStyle/>
          <a:p>
            <a:pPr algn="ctr" indent="0" marL="0">
              <a:buNone/>
            </a:pPr>
            <a:r>
              <a:rPr lang="en-US" sz="2000" b="1" dirty="0">
                <a:solidFill>
                  <a:schemeClr val="tx2"/>
                </a:solidFill>
              </a:rPr>
              <a:t>1</a:t>
            </a:r>
            <a:endParaRPr lang="en-US" sz="2000" dirty="0"/>
          </a:p>
        </p:txBody>
      </p:sp>
      <p:sp>
        <p:nvSpPr>
          <p:cNvPr id="6" name="Text 4"/>
          <p:cNvSpPr txBox="1"/>
          <p:nvPr/>
        </p:nvSpPr>
        <p:spPr>
          <a:xfrm>
            <a:off x="685800" y="2194560"/>
            <a:ext cx="1554480" cy="365760"/>
          </a:xfrm>
          <a:prstGeom prst="rect">
            <a:avLst/>
          </a:prstGeom>
          <a:noFill/>
          <a:ln/>
        </p:spPr>
        <p:txBody>
          <a:bodyPr wrap="square" lIns="0" tIns="0" rIns="0" bIns="0" rtlCol="0" anchor="t"/>
          <a:lstStyle/>
          <a:p>
            <a:pPr indent="0" marL="0">
              <a:buNone/>
            </a:pPr>
            <a:r>
              <a:rPr lang="en-US" sz="1600" b="1" dirty="0">
                <a:solidFill>
                  <a:schemeClr val="tx2"/>
                </a:solidFill>
              </a:rPr>
              <a:t>Install</a:t>
            </a:r>
            <a:endParaRPr lang="en-US" sz="1600" dirty="0"/>
          </a:p>
        </p:txBody>
      </p:sp>
      <p:sp>
        <p:nvSpPr>
          <p:cNvPr id="7" name="Text 5"/>
          <p:cNvSpPr txBox="1"/>
          <p:nvPr/>
        </p:nvSpPr>
        <p:spPr>
          <a:xfrm>
            <a:off x="685800" y="2606040"/>
            <a:ext cx="1554480" cy="960120"/>
          </a:xfrm>
          <a:prstGeom prst="rect">
            <a:avLst/>
          </a:prstGeom>
          <a:noFill/>
          <a:ln/>
        </p:spPr>
        <p:txBody>
          <a:bodyPr wrap="square" lIns="0" tIns="0" rIns="0" bIns="0" rtlCol="0" anchor="t"/>
          <a:lstStyle/>
          <a:p>
            <a:pPr indent="0" marL="0">
              <a:buNone/>
            </a:pPr>
            <a:r>
              <a:rPr lang="en-US" sz="1400" dirty="0">
                <a:solidFill>
                  <a:schemeClr val="tx1"/>
                </a:solidFill>
              </a:rPr>
              <a:t>Python 3.13 and Ollama</a:t>
            </a:r>
            <a:endParaRPr lang="en-US" sz="1400" dirty="0"/>
          </a:p>
        </p:txBody>
      </p:sp>
      <p:sp>
        <p:nvSpPr>
          <p:cNvPr id="8" name="Run step 2"/>
          <p:cNvSpPr/>
          <p:nvPr/>
        </p:nvSpPr>
        <p:spPr>
          <a:xfrm>
            <a:off x="2560320" y="1280160"/>
            <a:ext cx="1920240" cy="2377440"/>
          </a:xfrm>
          <a:prstGeom prst="roundRect">
            <a:avLst>
              <a:gd name="adj" fmla="val 3810"/>
            </a:avLst>
          </a:prstGeom>
          <a:solidFill>
            <a:schemeClr val="bg2"/>
          </a:solidFill>
          <a:ln w="12700">
            <a:solidFill>
              <a:schemeClr val="bg2"/>
            </a:solidFill>
            <a:prstDash val="solid"/>
          </a:ln>
        </p:spPr>
      </p:sp>
      <p:sp>
        <p:nvSpPr>
          <p:cNvPr id="9" name="Step number 2"/>
          <p:cNvSpPr/>
          <p:nvPr/>
        </p:nvSpPr>
        <p:spPr>
          <a:xfrm>
            <a:off x="2788920" y="150876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2788920" y="1508760"/>
            <a:ext cx="502920" cy="502920"/>
          </a:xfrm>
          <a:prstGeom prst="rect">
            <a:avLst/>
          </a:prstGeom>
          <a:noFill/>
          <a:ln/>
        </p:spPr>
        <p:txBody>
          <a:bodyPr wrap="square" lIns="0" tIns="0" rIns="0" bIns="0" rtlCol="0" anchor="ctr"/>
          <a:lstStyle/>
          <a:p>
            <a:pPr algn="ctr" indent="0" marL="0">
              <a:buNone/>
            </a:pPr>
            <a:r>
              <a:rPr lang="en-US" sz="2000" b="1" dirty="0">
                <a:solidFill>
                  <a:schemeClr val="tx2"/>
                </a:solidFill>
              </a:rPr>
              <a:t>2</a:t>
            </a:r>
            <a:endParaRPr lang="en-US" sz="2000" dirty="0"/>
          </a:p>
        </p:txBody>
      </p:sp>
      <p:sp>
        <p:nvSpPr>
          <p:cNvPr id="11" name="Text 9"/>
          <p:cNvSpPr txBox="1"/>
          <p:nvPr/>
        </p:nvSpPr>
        <p:spPr>
          <a:xfrm>
            <a:off x="2788920" y="2194560"/>
            <a:ext cx="1554480" cy="365760"/>
          </a:xfrm>
          <a:prstGeom prst="rect">
            <a:avLst/>
          </a:prstGeom>
          <a:noFill/>
          <a:ln/>
        </p:spPr>
        <p:txBody>
          <a:bodyPr wrap="square" lIns="0" tIns="0" rIns="0" bIns="0" rtlCol="0" anchor="t"/>
          <a:lstStyle/>
          <a:p>
            <a:pPr indent="0" marL="0">
              <a:buNone/>
            </a:pPr>
            <a:r>
              <a:rPr lang="en-US" sz="1600" b="1" dirty="0">
                <a:solidFill>
                  <a:schemeClr val="tx2"/>
                </a:solidFill>
              </a:rPr>
              <a:t>Get the model</a:t>
            </a:r>
            <a:endParaRPr lang="en-US" sz="1600" dirty="0"/>
          </a:p>
        </p:txBody>
      </p:sp>
      <p:sp>
        <p:nvSpPr>
          <p:cNvPr id="12" name="Text 10"/>
          <p:cNvSpPr txBox="1"/>
          <p:nvPr/>
        </p:nvSpPr>
        <p:spPr>
          <a:xfrm>
            <a:off x="2788920" y="2606040"/>
            <a:ext cx="1554480" cy="960120"/>
          </a:xfrm>
          <a:prstGeom prst="rect">
            <a:avLst/>
          </a:prstGeom>
          <a:noFill/>
          <a:ln/>
        </p:spPr>
        <p:txBody>
          <a:bodyPr wrap="square" lIns="0" tIns="0" rIns="0" bIns="0" rtlCol="0" anchor="t"/>
          <a:lstStyle/>
          <a:p>
            <a:pPr indent="0" marL="0">
              <a:buNone/>
            </a:pPr>
            <a:r>
              <a:rPr lang="en-US" sz="1400" dirty="0">
                <a:solidFill>
                  <a:schemeClr val="tx1"/>
                </a:solidFill>
              </a:rPr>
              <a:t>ollama pull qwen3:0.6b</a:t>
            </a:r>
            <a:endParaRPr lang="en-US" sz="1400" dirty="0"/>
          </a:p>
        </p:txBody>
      </p:sp>
      <p:sp>
        <p:nvSpPr>
          <p:cNvPr id="13" name="Run step 3"/>
          <p:cNvSpPr/>
          <p:nvPr/>
        </p:nvSpPr>
        <p:spPr>
          <a:xfrm>
            <a:off x="4663440" y="1280160"/>
            <a:ext cx="1920240" cy="2377440"/>
          </a:xfrm>
          <a:prstGeom prst="roundRect">
            <a:avLst>
              <a:gd name="adj" fmla="val 3810"/>
            </a:avLst>
          </a:prstGeom>
          <a:solidFill>
            <a:schemeClr val="bg2"/>
          </a:solidFill>
          <a:ln w="12700">
            <a:solidFill>
              <a:schemeClr val="bg2"/>
            </a:solidFill>
            <a:prstDash val="solid"/>
          </a:ln>
        </p:spPr>
      </p:sp>
      <p:sp>
        <p:nvSpPr>
          <p:cNvPr id="14" name="Step number 3"/>
          <p:cNvSpPr/>
          <p:nvPr/>
        </p:nvSpPr>
        <p:spPr>
          <a:xfrm>
            <a:off x="4892040" y="1508760"/>
            <a:ext cx="502920" cy="502920"/>
          </a:xfrm>
          <a:prstGeom prst="ellipse">
            <a:avLst/>
          </a:prstGeom>
          <a:solidFill>
            <a:schemeClr val="accent1"/>
          </a:solidFill>
          <a:ln w="12700">
            <a:solidFill>
              <a:schemeClr val="accent1"/>
            </a:solidFill>
            <a:prstDash val="solid"/>
          </a:ln>
        </p:spPr>
      </p:sp>
      <p:sp>
        <p:nvSpPr>
          <p:cNvPr id="15" name="Text 13"/>
          <p:cNvSpPr txBox="1"/>
          <p:nvPr/>
        </p:nvSpPr>
        <p:spPr>
          <a:xfrm>
            <a:off x="4892040" y="1508760"/>
            <a:ext cx="502920" cy="502920"/>
          </a:xfrm>
          <a:prstGeom prst="rect">
            <a:avLst/>
          </a:prstGeom>
          <a:noFill/>
          <a:ln/>
        </p:spPr>
        <p:txBody>
          <a:bodyPr wrap="square" lIns="0" tIns="0" rIns="0" bIns="0" rtlCol="0" anchor="ctr"/>
          <a:lstStyle/>
          <a:p>
            <a:pPr algn="ctr" indent="0" marL="0">
              <a:buNone/>
            </a:pPr>
            <a:r>
              <a:rPr lang="en-US" sz="2000" b="1" dirty="0">
                <a:solidFill>
                  <a:schemeClr val="tx2"/>
                </a:solidFill>
              </a:rPr>
              <a:t>3</a:t>
            </a:r>
            <a:endParaRPr lang="en-US" sz="2000" dirty="0"/>
          </a:p>
        </p:txBody>
      </p:sp>
      <p:sp>
        <p:nvSpPr>
          <p:cNvPr id="16" name="Text 14"/>
          <p:cNvSpPr txBox="1"/>
          <p:nvPr/>
        </p:nvSpPr>
        <p:spPr>
          <a:xfrm>
            <a:off x="4892040" y="2194560"/>
            <a:ext cx="1554480" cy="365760"/>
          </a:xfrm>
          <a:prstGeom prst="rect">
            <a:avLst/>
          </a:prstGeom>
          <a:noFill/>
          <a:ln/>
        </p:spPr>
        <p:txBody>
          <a:bodyPr wrap="square" lIns="0" tIns="0" rIns="0" bIns="0" rtlCol="0" anchor="t"/>
          <a:lstStyle/>
          <a:p>
            <a:pPr indent="0" marL="0">
              <a:buNone/>
            </a:pPr>
            <a:r>
              <a:rPr lang="en-US" sz="1600" b="1" dirty="0">
                <a:solidFill>
                  <a:schemeClr val="tx2"/>
                </a:solidFill>
              </a:rPr>
              <a:t>Start</a:t>
            </a:r>
            <a:endParaRPr lang="en-US" sz="1600" dirty="0"/>
          </a:p>
        </p:txBody>
      </p:sp>
      <p:sp>
        <p:nvSpPr>
          <p:cNvPr id="17" name="Text 15"/>
          <p:cNvSpPr txBox="1"/>
          <p:nvPr/>
        </p:nvSpPr>
        <p:spPr>
          <a:xfrm>
            <a:off x="4892040" y="2606040"/>
            <a:ext cx="1554480" cy="960120"/>
          </a:xfrm>
          <a:prstGeom prst="rect">
            <a:avLst/>
          </a:prstGeom>
          <a:noFill/>
          <a:ln/>
        </p:spPr>
        <p:txBody>
          <a:bodyPr wrap="square" lIns="0" tIns="0" rIns="0" bIns="0" rtlCol="0" anchor="t"/>
          <a:lstStyle/>
          <a:p>
            <a:pPr indent="0" marL="0">
              <a:buNone/>
            </a:pPr>
            <a:r>
              <a:rPr lang="en-US" sz="1400" dirty="0">
                <a:solidFill>
                  <a:schemeClr val="tx1"/>
                </a:solidFill>
              </a:rPr>
              <a:t>Double-click start.bat, or run python run.py</a:t>
            </a:r>
            <a:endParaRPr lang="en-US" sz="1400" dirty="0"/>
          </a:p>
        </p:txBody>
      </p:sp>
      <p:sp>
        <p:nvSpPr>
          <p:cNvPr id="18" name="Run step 4"/>
          <p:cNvSpPr/>
          <p:nvPr/>
        </p:nvSpPr>
        <p:spPr>
          <a:xfrm>
            <a:off x="6766560" y="1280160"/>
            <a:ext cx="1920240" cy="2377440"/>
          </a:xfrm>
          <a:prstGeom prst="roundRect">
            <a:avLst>
              <a:gd name="adj" fmla="val 3810"/>
            </a:avLst>
          </a:prstGeom>
          <a:solidFill>
            <a:schemeClr val="bg2"/>
          </a:solidFill>
          <a:ln w="12700">
            <a:solidFill>
              <a:schemeClr val="bg2"/>
            </a:solidFill>
            <a:prstDash val="solid"/>
          </a:ln>
        </p:spPr>
      </p:sp>
      <p:sp>
        <p:nvSpPr>
          <p:cNvPr id="19" name="Step number 4"/>
          <p:cNvSpPr/>
          <p:nvPr/>
        </p:nvSpPr>
        <p:spPr>
          <a:xfrm>
            <a:off x="6995160" y="1508760"/>
            <a:ext cx="502920" cy="502920"/>
          </a:xfrm>
          <a:prstGeom prst="ellipse">
            <a:avLst/>
          </a:prstGeom>
          <a:solidFill>
            <a:schemeClr val="accent1"/>
          </a:solidFill>
          <a:ln w="12700">
            <a:solidFill>
              <a:schemeClr val="accent1"/>
            </a:solidFill>
            <a:prstDash val="solid"/>
          </a:ln>
        </p:spPr>
      </p:sp>
      <p:sp>
        <p:nvSpPr>
          <p:cNvPr id="20" name="Text 18"/>
          <p:cNvSpPr txBox="1"/>
          <p:nvPr/>
        </p:nvSpPr>
        <p:spPr>
          <a:xfrm>
            <a:off x="6995160" y="1508760"/>
            <a:ext cx="502920" cy="502920"/>
          </a:xfrm>
          <a:prstGeom prst="rect">
            <a:avLst/>
          </a:prstGeom>
          <a:noFill/>
          <a:ln/>
        </p:spPr>
        <p:txBody>
          <a:bodyPr wrap="square" lIns="0" tIns="0" rIns="0" bIns="0" rtlCol="0" anchor="ctr"/>
          <a:lstStyle/>
          <a:p>
            <a:pPr algn="ctr" indent="0" marL="0">
              <a:buNone/>
            </a:pPr>
            <a:r>
              <a:rPr lang="en-US" sz="2000" b="1" dirty="0">
                <a:solidFill>
                  <a:schemeClr val="tx2"/>
                </a:solidFill>
              </a:rPr>
              <a:t>4</a:t>
            </a:r>
            <a:endParaRPr lang="en-US" sz="2000" dirty="0"/>
          </a:p>
        </p:txBody>
      </p:sp>
      <p:sp>
        <p:nvSpPr>
          <p:cNvPr id="21" name="Text 19"/>
          <p:cNvSpPr txBox="1"/>
          <p:nvPr/>
        </p:nvSpPr>
        <p:spPr>
          <a:xfrm>
            <a:off x="6995160" y="2194560"/>
            <a:ext cx="1554480" cy="365760"/>
          </a:xfrm>
          <a:prstGeom prst="rect">
            <a:avLst/>
          </a:prstGeom>
          <a:noFill/>
          <a:ln/>
        </p:spPr>
        <p:txBody>
          <a:bodyPr wrap="square" lIns="0" tIns="0" rIns="0" bIns="0" rtlCol="0" anchor="t"/>
          <a:lstStyle/>
          <a:p>
            <a:pPr indent="0" marL="0">
              <a:buNone/>
            </a:pPr>
            <a:r>
              <a:rPr lang="en-US" sz="1600" b="1" dirty="0">
                <a:solidFill>
                  <a:schemeClr val="tx2"/>
                </a:solidFill>
              </a:rPr>
              <a:t>Open</a:t>
            </a:r>
            <a:endParaRPr lang="en-US" sz="1600" dirty="0"/>
          </a:p>
        </p:txBody>
      </p:sp>
      <p:sp>
        <p:nvSpPr>
          <p:cNvPr id="22" name="Text 20"/>
          <p:cNvSpPr txBox="1"/>
          <p:nvPr/>
        </p:nvSpPr>
        <p:spPr>
          <a:xfrm>
            <a:off x="6995160" y="2606040"/>
            <a:ext cx="1554480" cy="960120"/>
          </a:xfrm>
          <a:prstGeom prst="rect">
            <a:avLst/>
          </a:prstGeom>
          <a:noFill/>
          <a:ln/>
        </p:spPr>
        <p:txBody>
          <a:bodyPr wrap="square" lIns="0" tIns="0" rIns="0" bIns="0" rtlCol="0" anchor="t"/>
          <a:lstStyle/>
          <a:p>
            <a:pPr indent="0" marL="0">
              <a:buNone/>
            </a:pPr>
            <a:r>
              <a:rPr lang="en-US" sz="1400" dirty="0">
                <a:solidFill>
                  <a:schemeClr val="tx1"/>
                </a:solidFill>
              </a:rPr>
              <a:t>127.0.0.1:8000 in your browser</a:t>
            </a:r>
            <a:endParaRPr lang="en-US" sz="1400" dirty="0"/>
          </a:p>
        </p:txBody>
      </p:sp>
      <p:sp>
        <p:nvSpPr>
          <p:cNvPr id="23" name="Phone circle"/>
          <p:cNvSpPr/>
          <p:nvPr/>
        </p:nvSpPr>
        <p:spPr>
          <a:xfrm>
            <a:off x="457200" y="3886200"/>
            <a:ext cx="548640" cy="548640"/>
          </a:xfrm>
          <a:prstGeom prst="ellipse">
            <a:avLst/>
          </a:prstGeom>
          <a:solidFill>
            <a:schemeClr val="accent1"/>
          </a:solidFill>
          <a:ln w="12700">
            <a:solidFill>
              <a:schemeClr val="accent1"/>
            </a:solidFill>
            <a:prstDash val="solid"/>
          </a:ln>
        </p:spPr>
      </p:sp>
      <p:pic>
        <p:nvPicPr>
          <p:cNvPr id="24" name="Phone icon" descr="Phone">    </p:cNvPr>
          <p:cNvPicPr>
            <a:picLocks noChangeAspect="1"/>
          </p:cNvPicPr>
          <p:nvPr/>
        </p:nvPicPr>
        <p:blipFill>
          <a:blip r:embed="rId1"/>
          <a:stretch>
            <a:fillRect/>
          </a:stretch>
        </p:blipFill>
        <p:spPr>
          <a:xfrm>
            <a:off x="594360" y="4023360"/>
            <a:ext cx="274320" cy="274320"/>
          </a:xfrm>
          <a:prstGeom prst="rect">
            <a:avLst/>
          </a:prstGeom>
        </p:spPr>
      </p:pic>
      <p:sp>
        <p:nvSpPr>
          <p:cNvPr id="25" name="Text 22"/>
          <p:cNvSpPr txBox="1"/>
          <p:nvPr/>
        </p:nvSpPr>
        <p:spPr>
          <a:xfrm>
            <a:off x="1188720" y="3886200"/>
            <a:ext cx="7498080" cy="548640"/>
          </a:xfrm>
          <a:prstGeom prst="rect">
            <a:avLst/>
          </a:prstGeom>
          <a:noFill/>
          <a:ln/>
        </p:spPr>
        <p:txBody>
          <a:bodyPr wrap="square" lIns="0" tIns="0" rIns="0" bIns="0" rtlCol="0" anchor="ctr"/>
          <a:lstStyle/>
          <a:p>
            <a:pPr indent="0" marL="0">
              <a:buNone/>
            </a:pPr>
            <a:r>
              <a:rPr lang="en-US" sz="1600" b="1" dirty="0">
                <a:solidFill>
                  <a:schemeClr val="tx2"/>
                </a:solidFill>
              </a:rPr>
              <a:t>Before going live, set the real SUPPORT_PHONE in config.py or start.bat.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2"/>
                </a:solidFill>
              </a:rPr>
              <a:t>Limits and next steps</a:t>
            </a:r>
            <a:endParaRPr lang="en-US" sz="3400" dirty="0"/>
          </a:p>
        </p:txBody>
      </p:sp>
      <p:sp>
        <p:nvSpPr>
          <p:cNvPr id="3" name="Column 1"/>
          <p:cNvSpPr/>
          <p:nvPr/>
        </p:nvSpPr>
        <p:spPr>
          <a:xfrm>
            <a:off x="457200" y="1280160"/>
            <a:ext cx="4023360" cy="3246120"/>
          </a:xfrm>
          <a:prstGeom prst="roundRect">
            <a:avLst>
              <a:gd name="adj" fmla="val 2254"/>
            </a:avLst>
          </a:prstGeom>
          <a:solidFill>
            <a:schemeClr val="bg2"/>
          </a:solidFill>
          <a:ln w="12700">
            <a:solidFill>
              <a:schemeClr val="bg2"/>
            </a:solidFill>
            <a:prstDash val="solid"/>
          </a:ln>
        </p:spPr>
      </p:sp>
      <p:sp>
        <p:nvSpPr>
          <p:cNvPr id="4" name="Limits today circle"/>
          <p:cNvSpPr/>
          <p:nvPr/>
        </p:nvSpPr>
        <p:spPr>
          <a:xfrm>
            <a:off x="731520" y="1508760"/>
            <a:ext cx="548640" cy="548640"/>
          </a:xfrm>
          <a:prstGeom prst="ellipse">
            <a:avLst/>
          </a:prstGeom>
          <a:solidFill>
            <a:schemeClr val="accent3"/>
          </a:solidFill>
          <a:ln w="12700">
            <a:solidFill>
              <a:schemeClr val="accent3"/>
            </a:solidFill>
            <a:prstDash val="solid"/>
          </a:ln>
        </p:spPr>
      </p:sp>
      <p:pic>
        <p:nvPicPr>
          <p:cNvPr id="5" name="Limits today icon" descr="Limits today">    </p:cNvPr>
          <p:cNvPicPr>
            <a:picLocks noChangeAspect="1"/>
          </p:cNvPicPr>
          <p:nvPr/>
        </p:nvPicPr>
        <p:blipFill>
          <a:blip r:embed="rId1"/>
          <a:stretch>
            <a:fillRect/>
          </a:stretch>
        </p:blipFill>
        <p:spPr>
          <a:xfrm>
            <a:off x="868680" y="1645920"/>
            <a:ext cx="274320" cy="274320"/>
          </a:xfrm>
          <a:prstGeom prst="rect">
            <a:avLst/>
          </a:prstGeom>
        </p:spPr>
      </p:pic>
      <p:sp>
        <p:nvSpPr>
          <p:cNvPr id="6" name="Text 3"/>
          <p:cNvSpPr txBox="1"/>
          <p:nvPr/>
        </p:nvSpPr>
        <p:spPr>
          <a:xfrm>
            <a:off x="1463040" y="1508760"/>
            <a:ext cx="274320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Limits today</a:t>
            </a:r>
            <a:endParaRPr lang="en-US" sz="2200" dirty="0"/>
          </a:p>
        </p:txBody>
      </p:sp>
      <p:sp>
        <p:nvSpPr>
          <p:cNvPr id="7" name="Text 4"/>
          <p:cNvSpPr txBox="1"/>
          <p:nvPr/>
        </p:nvSpPr>
        <p:spPr>
          <a:xfrm>
            <a:off x="731520" y="2331720"/>
            <a:ext cx="347472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English only. Bengali input gets a notice.</a:t>
            </a:r>
            <a:endParaRPr lang="en-US" sz="1400" dirty="0"/>
          </a:p>
          <a:p>
            <a:pPr marL="342900" indent="-342900">
              <a:spcAft>
                <a:spcPts val="800"/>
              </a:spcAft>
              <a:buSzPct val="100000"/>
              <a:buChar char="•"/>
            </a:pPr>
            <a:r>
              <a:rPr lang="en-US" sz="1400" dirty="0">
                <a:solidFill>
                  <a:schemeClr val="tx1"/>
                </a:solidFill>
              </a:rPr>
              <a:t>No database. Knowledge is in one JSON file.</a:t>
            </a:r>
            <a:endParaRPr lang="en-US" sz="1400" dirty="0"/>
          </a:p>
          <a:p>
            <a:pPr marL="342900" indent="-342900">
              <a:spcAft>
                <a:spcPts val="800"/>
              </a:spcAft>
              <a:buSzPct val="100000"/>
              <a:buChar char="•"/>
            </a:pPr>
            <a:r>
              <a:rPr lang="en-US" sz="1400" dirty="0">
                <a:solidFill>
                  <a:schemeClr val="tx1"/>
                </a:solidFill>
              </a:rPr>
              <a:t>A 0.6B model is small, so code makes the decisions.</a:t>
            </a:r>
            <a:endParaRPr lang="en-US" sz="1400" dirty="0"/>
          </a:p>
        </p:txBody>
      </p:sp>
      <p:sp>
        <p:nvSpPr>
          <p:cNvPr id="8" name="Column 2"/>
          <p:cNvSpPr/>
          <p:nvPr/>
        </p:nvSpPr>
        <p:spPr>
          <a:xfrm>
            <a:off x="4663440" y="1280160"/>
            <a:ext cx="4023360" cy="3246120"/>
          </a:xfrm>
          <a:prstGeom prst="roundRect">
            <a:avLst>
              <a:gd name="adj" fmla="val 2254"/>
            </a:avLst>
          </a:prstGeom>
          <a:solidFill>
            <a:schemeClr val="bg2"/>
          </a:solidFill>
          <a:ln w="12700">
            <a:solidFill>
              <a:schemeClr val="bg2"/>
            </a:solidFill>
            <a:prstDash val="solid"/>
          </a:ln>
        </p:spPr>
      </p:sp>
      <p:sp>
        <p:nvSpPr>
          <p:cNvPr id="9" name="Next steps circle"/>
          <p:cNvSpPr/>
          <p:nvPr/>
        </p:nvSpPr>
        <p:spPr>
          <a:xfrm>
            <a:off x="4937760" y="1508760"/>
            <a:ext cx="548640" cy="548640"/>
          </a:xfrm>
          <a:prstGeom prst="ellipse">
            <a:avLst/>
          </a:prstGeom>
          <a:solidFill>
            <a:schemeClr val="accent2"/>
          </a:solidFill>
          <a:ln w="12700">
            <a:solidFill>
              <a:schemeClr val="accent2"/>
            </a:solidFill>
            <a:prstDash val="solid"/>
          </a:ln>
        </p:spPr>
      </p:sp>
      <p:pic>
        <p:nvPicPr>
          <p:cNvPr id="10" name="Next steps icon" descr="Next steps">    </p:cNvPr>
          <p:cNvPicPr>
            <a:picLocks noChangeAspect="1"/>
          </p:cNvPicPr>
          <p:nvPr/>
        </p:nvPicPr>
        <p:blipFill>
          <a:blip r:embed="rId2"/>
          <a:stretch>
            <a:fillRect/>
          </a:stretch>
        </p:blipFill>
        <p:spPr>
          <a:xfrm>
            <a:off x="5074920" y="1645920"/>
            <a:ext cx="274320" cy="274320"/>
          </a:xfrm>
          <a:prstGeom prst="rect">
            <a:avLst/>
          </a:prstGeom>
        </p:spPr>
      </p:pic>
      <p:sp>
        <p:nvSpPr>
          <p:cNvPr id="11" name="Text 7"/>
          <p:cNvSpPr txBox="1"/>
          <p:nvPr/>
        </p:nvSpPr>
        <p:spPr>
          <a:xfrm>
            <a:off x="5669280" y="1508760"/>
            <a:ext cx="274320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Next steps</a:t>
            </a:r>
            <a:endParaRPr lang="en-US" sz="2200" dirty="0"/>
          </a:p>
        </p:txBody>
      </p:sp>
      <p:sp>
        <p:nvSpPr>
          <p:cNvPr id="12" name="Text 8"/>
          <p:cNvSpPr txBox="1"/>
          <p:nvPr/>
        </p:nvSpPr>
        <p:spPr>
          <a:xfrm>
            <a:off x="4937760" y="2331720"/>
            <a:ext cx="347472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Database integration (swap the KnowledgeBase class).</a:t>
            </a:r>
            <a:endParaRPr lang="en-US" sz="1400" dirty="0"/>
          </a:p>
          <a:p>
            <a:pPr marL="342900" indent="-342900">
              <a:spcAft>
                <a:spcPts val="800"/>
              </a:spcAft>
              <a:buSzPct val="100000"/>
              <a:buChar char="•"/>
            </a:pPr>
            <a:r>
              <a:rPr lang="en-US" sz="1400" dirty="0">
                <a:solidFill>
                  <a:schemeClr val="tx1"/>
                </a:solidFill>
              </a:rPr>
              <a:t>Bengali language support.</a:t>
            </a:r>
            <a:endParaRPr lang="en-US" sz="1400" dirty="0"/>
          </a:p>
          <a:p>
            <a:pPr marL="342900" indent="-342900">
              <a:spcAft>
                <a:spcPts val="800"/>
              </a:spcAft>
              <a:buSzPct val="100000"/>
              <a:buChar char="•"/>
            </a:pPr>
            <a:r>
              <a:rPr lang="en-US" sz="1400" dirty="0">
                <a:solidFill>
                  <a:schemeClr val="tx1"/>
                </a:solidFill>
              </a:rPr>
              <a:t>Fine-tuning the model.</a:t>
            </a:r>
            <a:endParaRPr lang="en-US" sz="1400" dirty="0"/>
          </a:p>
          <a:p>
            <a:pPr marL="342900" indent="-342900">
              <a:spcAft>
                <a:spcPts val="800"/>
              </a:spcAft>
              <a:buSzPct val="100000"/>
              <a:buChar char="•"/>
            </a:pPr>
            <a:r>
              <a:rPr lang="en-US" sz="1400" dirty="0">
                <a:solidFill>
                  <a:schemeClr val="tx1"/>
                </a:solidFill>
              </a:rPr>
              <a:t>Public hosting for real customers.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un circle"/>
          <p:cNvSpPr/>
          <p:nvPr/>
        </p:nvSpPr>
        <p:spPr>
          <a:xfrm>
            <a:off x="6583680" y="1188720"/>
            <a:ext cx="1737360" cy="1737360"/>
          </a:xfrm>
          <a:prstGeom prst="ellipse">
            <a:avLst/>
          </a:prstGeom>
          <a:solidFill>
            <a:schemeClr val="accent1"/>
          </a:solidFill>
          <a:ln w="12700">
            <a:solidFill>
              <a:schemeClr val="accent1"/>
            </a:solidFill>
            <a:prstDash val="solid"/>
          </a:ln>
        </p:spPr>
      </p:sp>
      <p:pic>
        <p:nvPicPr>
          <p:cNvPr id="3" name="Sun icon" descr="Sun">    </p:cNvPr>
          <p:cNvPicPr>
            <a:picLocks noChangeAspect="1"/>
          </p:cNvPicPr>
          <p:nvPr/>
        </p:nvPicPr>
        <p:blipFill>
          <a:blip r:embed="rId1"/>
          <a:stretch>
            <a:fillRect/>
          </a:stretch>
        </p:blipFill>
        <p:spPr>
          <a:xfrm>
            <a:off x="7086600" y="1691640"/>
            <a:ext cx="731520" cy="731520"/>
          </a:xfrm>
          <a:prstGeom prst="rect">
            <a:avLst/>
          </a:prstGeom>
        </p:spPr>
      </p:pic>
      <p:sp>
        <p:nvSpPr>
          <p:cNvPr id="4" name="Title"/>
          <p:cNvSpPr txBox="1"/>
          <p:nvPr/>
        </p:nvSpPr>
        <p:spPr>
          <a:xfrm>
            <a:off x="640080" y="1371600"/>
            <a:ext cx="5486400" cy="1097280"/>
          </a:xfrm>
          <a:prstGeom prst="rect">
            <a:avLst/>
          </a:prstGeom>
          <a:noFill/>
          <a:ln/>
        </p:spPr>
        <p:txBody>
          <a:bodyPr wrap="square" lIns="0" tIns="0" rIns="0" bIns="0" rtlCol="0" anchor="b"/>
          <a:lstStyle/>
          <a:p>
            <a:pPr indent="0" marL="0">
              <a:buNone/>
            </a:pPr>
            <a:r>
              <a:rPr lang="en-US" sz="4800" b="1" dirty="0">
                <a:solidFill>
                  <a:schemeClr val="bg1"/>
                </a:solidFill>
                <a:latin typeface="Cambria" pitchFamily="34" charset="0"/>
                <a:ea typeface="Cambria" pitchFamily="34" charset="-122"/>
                <a:cs typeface="Cambria" pitchFamily="34" charset="-120"/>
              </a:rPr>
              <a:t>Thank you</a:t>
            </a:r>
            <a:endParaRPr lang="en-US" sz="4800" dirty="0"/>
          </a:p>
        </p:txBody>
      </p:sp>
      <p:sp>
        <p:nvSpPr>
          <p:cNvPr id="5" name="Subtitle"/>
          <p:cNvSpPr txBox="1"/>
          <p:nvPr/>
        </p:nvSpPr>
        <p:spPr>
          <a:xfrm>
            <a:off x="640080" y="2606040"/>
            <a:ext cx="5486400" cy="548640"/>
          </a:xfrm>
          <a:prstGeom prst="rect">
            <a:avLst/>
          </a:prstGeom>
          <a:noFill/>
          <a:ln/>
        </p:spPr>
        <p:txBody>
          <a:bodyPr wrap="square" lIns="0" tIns="0" rIns="0" bIns="0" rtlCol="0" anchor="t"/>
          <a:lstStyle/>
          <a:p>
            <a:pPr indent="0" marL="0">
              <a:buNone/>
            </a:pPr>
            <a:r>
              <a:rPr lang="en-US" sz="2400" dirty="0">
                <a:solidFill>
                  <a:schemeClr val="accent1"/>
                </a:solidFill>
              </a:rPr>
              <a:t>Questions?</a:t>
            </a:r>
            <a:endParaRPr lang="en-US" sz="2400" dirty="0"/>
          </a:p>
        </p:txBody>
      </p:sp>
      <p:sp>
        <p:nvSpPr>
          <p:cNvPr id="6" name="Presenter"/>
          <p:cNvSpPr txBox="1"/>
          <p:nvPr/>
        </p:nvSpPr>
        <p:spPr>
          <a:xfrm>
            <a:off x="640080" y="4114800"/>
            <a:ext cx="5486400" cy="365760"/>
          </a:xfrm>
          <a:prstGeom prst="rect">
            <a:avLst/>
          </a:prstGeom>
          <a:noFill/>
          <a:ln/>
        </p:spPr>
        <p:txBody>
          <a:bodyPr wrap="square" lIns="0" tIns="0" rIns="0" bIns="0" rtlCol="0" anchor="t"/>
          <a:lstStyle/>
          <a:p>
            <a:pPr indent="0" marL="0">
              <a:buNone/>
            </a:pPr>
            <a:r>
              <a:rPr lang="en-US" sz="1400" dirty="0">
                <a:solidFill>
                  <a:schemeClr val="bg2"/>
                </a:solidFill>
              </a:rPr>
              <a:t>Md Rasel  |  AI Scooty</a:t>
            </a:r>
            <a:endParaRPr lang="en-US" sz="1400" dirty="0"/>
          </a:p>
        </p:txBody>
      </p:sp>
    </p:spTree>
  </p:cSld>
  <p:clrMapOvr>
    <a:masterClrMapping/>
  </p:clrMapOvr>
</p:sld>
</file>

<file path=ppt/theme/theme1.xml><?xml version="1.0" encoding="utf-8"?>
<a:theme xmlns:a="http://schemas.openxmlformats.org/drawingml/2006/main" name="AI Scooty">
  <a:themeElements>
    <a:clrScheme name="AI Scooty">
      <a:dk1>
        <a:srgbClr val="14213D"/>
      </a:dk1>
      <a:lt1>
        <a:srgbClr val="FFFFFF"/>
      </a:lt1>
      <a:dk2>
        <a:srgbClr val="0B2545"/>
      </a:dk2>
      <a:lt2>
        <a:srgbClr val="EAF2F7"/>
      </a:lt2>
      <a:accent1>
        <a:srgbClr val="F5B700"/>
      </a:accent1>
      <a:accent2>
        <a:srgbClr val="0E7C74"/>
      </a:accent2>
      <a:accent3>
        <a:srgbClr val="C8412B"/>
      </a:accent3>
      <a:accent4>
        <a:srgbClr val="5E7F9B"/>
      </a:accent4>
      <a:accent5>
        <a:srgbClr val="7FA83A"/>
      </a:accent5>
      <a:accent6>
        <a:srgbClr val="5B3F8C"/>
      </a:accent6>
      <a:hlink>
        <a:srgbClr val="0E7C74"/>
      </a:hlink>
      <a:folHlink>
        <a:srgbClr val="5E7F9B"/>
      </a:folHlink>
    </a:clrScheme>
    <a:fontScheme name="AI Scoo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Scooty Assistant - Project Presentation</dc:title>
  <dc:subject>PptxGenJS Presentation</dc:subject>
  <dc:creator>Md Rasel</dc:creator>
  <cp:lastModifiedBy>Md Rasel</cp:lastModifiedBy>
  <cp:revision>1</cp:revision>
  <dcterms:created xsi:type="dcterms:W3CDTF">2026-10-10T07:34:50Z</dcterms:created>
  <dcterms:modified xsi:type="dcterms:W3CDTF">2026-10-10T07:34:50Z</dcterms:modified>
</cp:coreProperties>
</file>